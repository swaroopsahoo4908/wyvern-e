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4480559"/>
            <a:ext cx="9144000" cy="66294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4370832"/>
            <a:ext cx="9144000" cy="10972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6583680" y="-1"/>
            <a:ext cx="2560321" cy="4370834"/>
          </a:xfrm>
          <a:prstGeom prst="rect">
            <a:avLst/>
          </a:prstGeom>
          <a:solidFill>
            <a:srgbClr val="FFFFFF">
              <a:alpha val="4000"/>
            </a:srgbClr>
          </a:solidFill>
          <a:ln w="3810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502919" y="472580"/>
            <a:ext cx="1811691" cy="335455"/>
          </a:xfrm>
          <a:prstGeom prst="roundRect">
            <a:avLst>
              <a:gd name="adj" fmla="val 24003"/>
            </a:avLst>
          </a:prstGeom>
          <a:solidFill>
            <a:srgbClr val="14B8A6">
              <a:alpha val="20000"/>
            </a:srgbClr>
          </a:solidFill>
          <a:ln w="1016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4"/>
          <p:cNvSpPr txBox="1"/>
          <p:nvPr/>
        </p:nvSpPr>
        <p:spPr>
          <a:xfrm>
            <a:off x="580724" y="467500"/>
            <a:ext cx="1656081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14B8A6"/>
                </a:solidFill>
              </a:defRPr>
            </a:lvl1pPr>
          </a:lstStyle>
          <a:p>
            <a:pPr/>
            <a:r>
              <a:t>PROTOTYPE TECHNOLOGY DEMONSTRATOR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548639" y="998705"/>
            <a:ext cx="6309361" cy="74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5200">
                <a:solidFill>
                  <a:srgbClr val="F8FAFC"/>
                </a:solidFill>
              </a:defRPr>
            </a:lvl1pPr>
          </a:lstStyle>
          <a:p>
            <a:pPr/>
            <a:r>
              <a:t>XRIM-117 WYVERN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548639" y="1933029"/>
            <a:ext cx="585216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000">
                <a:solidFill>
                  <a:srgbClr val="F59E0B"/>
                </a:solidFill>
              </a:defRPr>
            </a:lvl1pPr>
          </a:lstStyle>
          <a:p>
            <a:pPr/>
            <a:r>
              <a:t>Autonomous Guided Demonstrator Platform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548639" y="2493186"/>
            <a:ext cx="5852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94A3B8"/>
                </a:solidFill>
              </a:defRPr>
            </a:lvl1pPr>
          </a:lstStyle>
          <a:p>
            <a:pPr/>
            <a:r>
              <a:t>70mm · Active mid fins + passive aft stabilizers · Ceramic jetavane TVC · 3-board distributed avionics · 915MHz datalink</a:t>
            </a:r>
          </a:p>
        </p:txBody>
      </p:sp>
      <p:pic>
        <p:nvPicPr>
          <p:cNvPr id="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2319" y="1371600"/>
            <a:ext cx="1738373" cy="1738372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ext 8"/>
          <p:cNvSpPr txBox="1"/>
          <p:nvPr/>
        </p:nvSpPr>
        <p:spPr>
          <a:xfrm>
            <a:off x="320040" y="4558328"/>
            <a:ext cx="850392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A1A1A"/>
                </a:solidFill>
              </a:defRPr>
            </a:lvl1pPr>
          </a:lstStyle>
          <a:p>
            <a:pPr/>
            <a:r>
              <a:t>Skylight Industries LLC  ·  PDR-002 Rev A  ·  CONFIDENTIAL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-1" y="0"/>
            <a:ext cx="3815199" cy="51435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2"/>
          <p:cNvSpPr txBox="1"/>
          <p:nvPr/>
        </p:nvSpPr>
        <p:spPr>
          <a:xfrm>
            <a:off x="548639" y="276895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MISSION</a:t>
            </a:r>
          </a:p>
        </p:txBody>
      </p:sp>
      <p:sp>
        <p:nvSpPr>
          <p:cNvPr id="33" name="Text 3"/>
          <p:cNvSpPr txBox="1"/>
          <p:nvPr/>
        </p:nvSpPr>
        <p:spPr>
          <a:xfrm>
            <a:off x="365759" y="628012"/>
            <a:ext cx="3200402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F8FAFC"/>
                </a:solidFill>
              </a:defRPr>
            </a:lvl1pPr>
          </a:lstStyle>
          <a:p>
            <a:pPr/>
            <a:r>
              <a:t>Why WYVERN?</a:t>
            </a:r>
          </a:p>
        </p:txBody>
      </p:sp>
      <p:sp>
        <p:nvSpPr>
          <p:cNvPr id="34" name="Text 4"/>
          <p:cNvSpPr txBox="1"/>
          <p:nvPr/>
        </p:nvSpPr>
        <p:spPr>
          <a:xfrm>
            <a:off x="365759" y="1422707"/>
            <a:ext cx="3200402" cy="629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CBD5E1"/>
                </a:solidFill>
              </a:defRPr>
            </a:lvl1pPr>
          </a:lstStyle>
          <a:p>
            <a:pPr/>
            <a:r>
              <a:t>A hardware-first approach to validating guided autonomous flight control in a subscale, recoverable, repeatably-flyable platform.</a:t>
            </a:r>
          </a:p>
        </p:txBody>
      </p:sp>
      <p:sp>
        <p:nvSpPr>
          <p:cNvPr id="35" name="Shape 5"/>
          <p:cNvSpPr/>
          <p:nvPr/>
        </p:nvSpPr>
        <p:spPr>
          <a:xfrm>
            <a:off x="274320" y="2331720"/>
            <a:ext cx="1313525" cy="1097281"/>
          </a:xfrm>
          <a:prstGeom prst="rect">
            <a:avLst/>
          </a:prstGeom>
          <a:solidFill>
            <a:srgbClr val="141B2B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Text 6"/>
          <p:cNvSpPr txBox="1"/>
          <p:nvPr/>
        </p:nvSpPr>
        <p:spPr>
          <a:xfrm>
            <a:off x="393192" y="2465957"/>
            <a:ext cx="1075781" cy="444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800">
                <a:solidFill>
                  <a:srgbClr val="F59E0B"/>
                </a:solidFill>
              </a:defRPr>
            </a:lvl1pPr>
          </a:lstStyle>
          <a:p>
            <a:pPr/>
            <a:r>
              <a:t>70mm</a:t>
            </a:r>
          </a:p>
        </p:txBody>
      </p:sp>
      <p:sp>
        <p:nvSpPr>
          <p:cNvPr id="37" name="Text 7"/>
          <p:cNvSpPr txBox="1"/>
          <p:nvPr/>
        </p:nvSpPr>
        <p:spPr>
          <a:xfrm>
            <a:off x="393192" y="2895522"/>
            <a:ext cx="10757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OD</a:t>
            </a:r>
          </a:p>
        </p:txBody>
      </p:sp>
      <p:sp>
        <p:nvSpPr>
          <p:cNvPr id="38" name="Text 8"/>
          <p:cNvSpPr txBox="1"/>
          <p:nvPr/>
        </p:nvSpPr>
        <p:spPr>
          <a:xfrm>
            <a:off x="393192" y="3134019"/>
            <a:ext cx="97862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body diameter</a:t>
            </a:r>
          </a:p>
        </p:txBody>
      </p:sp>
      <p:sp>
        <p:nvSpPr>
          <p:cNvPr id="39" name="Shape 9"/>
          <p:cNvSpPr/>
          <p:nvPr/>
        </p:nvSpPr>
        <p:spPr>
          <a:xfrm>
            <a:off x="2240279" y="2331720"/>
            <a:ext cx="1313526" cy="1097281"/>
          </a:xfrm>
          <a:prstGeom prst="rect">
            <a:avLst/>
          </a:prstGeom>
          <a:solidFill>
            <a:srgbClr val="141B2B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" name="Text 10"/>
          <p:cNvSpPr txBox="1"/>
          <p:nvPr/>
        </p:nvSpPr>
        <p:spPr>
          <a:xfrm>
            <a:off x="2359152" y="2417215"/>
            <a:ext cx="1075781" cy="542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400">
                <a:solidFill>
                  <a:srgbClr val="F59E0B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1" name="Text 11"/>
          <p:cNvSpPr txBox="1"/>
          <p:nvPr/>
        </p:nvSpPr>
        <p:spPr>
          <a:xfrm>
            <a:off x="2359152" y="2895522"/>
            <a:ext cx="10757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srvs</a:t>
            </a:r>
          </a:p>
        </p:txBody>
      </p:sp>
      <p:sp>
        <p:nvSpPr>
          <p:cNvPr id="42" name="Text 12"/>
          <p:cNvSpPr txBox="1"/>
          <p:nvPr/>
        </p:nvSpPr>
        <p:spPr>
          <a:xfrm>
            <a:off x="2359152" y="3134019"/>
            <a:ext cx="10757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total actuators</a:t>
            </a:r>
          </a:p>
        </p:txBody>
      </p:sp>
      <p:sp>
        <p:nvSpPr>
          <p:cNvPr id="43" name="Shape 13"/>
          <p:cNvSpPr/>
          <p:nvPr/>
        </p:nvSpPr>
        <p:spPr>
          <a:xfrm>
            <a:off x="274320" y="3566159"/>
            <a:ext cx="1313525" cy="1097281"/>
          </a:xfrm>
          <a:prstGeom prst="rect">
            <a:avLst/>
          </a:prstGeom>
          <a:solidFill>
            <a:srgbClr val="141B2B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" name="Text 14"/>
          <p:cNvSpPr txBox="1"/>
          <p:nvPr/>
        </p:nvSpPr>
        <p:spPr>
          <a:xfrm>
            <a:off x="62402" y="3653441"/>
            <a:ext cx="1737361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400">
                <a:solidFill>
                  <a:srgbClr val="F59E0B"/>
                </a:solidFill>
              </a:defRPr>
            </a:lvl1pPr>
          </a:lstStyle>
          <a:p>
            <a:pPr/>
            <a:r>
              <a:t>915</a:t>
            </a:r>
          </a:p>
        </p:txBody>
      </p:sp>
      <p:sp>
        <p:nvSpPr>
          <p:cNvPr id="45" name="Text 15"/>
          <p:cNvSpPr txBox="1"/>
          <p:nvPr/>
        </p:nvSpPr>
        <p:spPr>
          <a:xfrm>
            <a:off x="62402" y="4131747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MHz</a:t>
            </a:r>
          </a:p>
        </p:txBody>
      </p:sp>
      <p:sp>
        <p:nvSpPr>
          <p:cNvPr id="46" name="Text 16"/>
          <p:cNvSpPr txBox="1"/>
          <p:nvPr/>
        </p:nvSpPr>
        <p:spPr>
          <a:xfrm>
            <a:off x="62402" y="4370244"/>
            <a:ext cx="17373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datalink range</a:t>
            </a:r>
          </a:p>
        </p:txBody>
      </p:sp>
      <p:sp>
        <p:nvSpPr>
          <p:cNvPr id="47" name="Shape 17"/>
          <p:cNvSpPr/>
          <p:nvPr/>
        </p:nvSpPr>
        <p:spPr>
          <a:xfrm>
            <a:off x="2240279" y="3566159"/>
            <a:ext cx="1313526" cy="1097281"/>
          </a:xfrm>
          <a:prstGeom prst="rect">
            <a:avLst/>
          </a:prstGeom>
          <a:solidFill>
            <a:srgbClr val="141B2B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Text 18"/>
          <p:cNvSpPr txBox="1"/>
          <p:nvPr/>
        </p:nvSpPr>
        <p:spPr>
          <a:xfrm>
            <a:off x="2028362" y="3653441"/>
            <a:ext cx="1737361" cy="542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400">
                <a:solidFill>
                  <a:srgbClr val="F59E0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9" name="Text 19"/>
          <p:cNvSpPr txBox="1"/>
          <p:nvPr/>
        </p:nvSpPr>
        <p:spPr>
          <a:xfrm>
            <a:off x="2028362" y="4131747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14B8A6"/>
                </a:solidFill>
              </a:defRPr>
            </a:lvl1pPr>
          </a:lstStyle>
          <a:p>
            <a:pPr/>
            <a:r>
              <a:t>PCBs</a:t>
            </a:r>
          </a:p>
        </p:txBody>
      </p:sp>
      <p:sp>
        <p:nvSpPr>
          <p:cNvPr id="50" name="Text 20"/>
          <p:cNvSpPr txBox="1"/>
          <p:nvPr/>
        </p:nvSpPr>
        <p:spPr>
          <a:xfrm>
            <a:off x="2028362" y="4370244"/>
            <a:ext cx="17373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avionics stack</a:t>
            </a:r>
          </a:p>
        </p:txBody>
      </p:sp>
      <p:sp>
        <p:nvSpPr>
          <p:cNvPr id="51" name="Text 21"/>
          <p:cNvSpPr txBox="1"/>
          <p:nvPr/>
        </p:nvSpPr>
        <p:spPr>
          <a:xfrm>
            <a:off x="548639" y="276895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52" name="Text 22"/>
          <p:cNvSpPr txBox="1"/>
          <p:nvPr/>
        </p:nvSpPr>
        <p:spPr>
          <a:xfrm>
            <a:off x="4023360" y="561691"/>
            <a:ext cx="475488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8FAFC"/>
                </a:solidFill>
              </a:defRPr>
            </a:lvl1pPr>
          </a:lstStyle>
          <a:p>
            <a:pPr/>
            <a:r>
              <a:t>Programme Objectives</a:t>
            </a:r>
          </a:p>
        </p:txBody>
      </p:sp>
      <p:sp>
        <p:nvSpPr>
          <p:cNvPr id="53" name="Shape 23"/>
          <p:cNvSpPr/>
          <p:nvPr/>
        </p:nvSpPr>
        <p:spPr>
          <a:xfrm>
            <a:off x="3931919" y="1097279"/>
            <a:ext cx="4892042" cy="82296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" name="Shape 24"/>
          <p:cNvSpPr/>
          <p:nvPr/>
        </p:nvSpPr>
        <p:spPr>
          <a:xfrm>
            <a:off x="3931920" y="1097279"/>
            <a:ext cx="54865" cy="82296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25"/>
          <p:cNvSpPr txBox="1"/>
          <p:nvPr/>
        </p:nvSpPr>
        <p:spPr>
          <a:xfrm>
            <a:off x="4160519" y="1156007"/>
            <a:ext cx="44805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8FAFC"/>
                </a:solidFill>
              </a:defRPr>
            </a:lvl1pPr>
          </a:lstStyle>
          <a:p>
            <a:pPr/>
            <a:r>
              <a:t>Validate hybrid control architecture</a:t>
            </a:r>
          </a:p>
        </p:txBody>
      </p:sp>
      <p:sp>
        <p:nvSpPr>
          <p:cNvPr id="56" name="Text 26"/>
          <p:cNvSpPr txBox="1"/>
          <p:nvPr/>
        </p:nvSpPr>
        <p:spPr>
          <a:xfrm>
            <a:off x="4160519" y="1421682"/>
            <a:ext cx="448056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Demonstrate coordinated aerodynamic fin + ceramic jetavane TVC authority across boost, loiter, and landing burn phases.</a:t>
            </a:r>
          </a:p>
        </p:txBody>
      </p:sp>
      <p:sp>
        <p:nvSpPr>
          <p:cNvPr id="57" name="Shape 27"/>
          <p:cNvSpPr/>
          <p:nvPr/>
        </p:nvSpPr>
        <p:spPr>
          <a:xfrm>
            <a:off x="3931919" y="2029967"/>
            <a:ext cx="4892042" cy="822961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8" name="Shape 28"/>
          <p:cNvSpPr/>
          <p:nvPr/>
        </p:nvSpPr>
        <p:spPr>
          <a:xfrm>
            <a:off x="3931920" y="2029967"/>
            <a:ext cx="54865" cy="822961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29"/>
          <p:cNvSpPr txBox="1"/>
          <p:nvPr/>
        </p:nvSpPr>
        <p:spPr>
          <a:xfrm>
            <a:off x="4160519" y="2088695"/>
            <a:ext cx="44805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8FAFC"/>
                </a:solidFill>
              </a:defRPr>
            </a:lvl1pPr>
          </a:lstStyle>
          <a:p>
            <a:pPr/>
            <a:r>
              <a:t>Prove distributed avionics concept</a:t>
            </a:r>
          </a:p>
        </p:txBody>
      </p:sp>
      <p:sp>
        <p:nvSpPr>
          <p:cNvPr id="60" name="Text 30"/>
          <p:cNvSpPr txBox="1"/>
          <p:nvPr/>
        </p:nvSpPr>
        <p:spPr>
          <a:xfrm>
            <a:off x="4160519" y="2354370"/>
            <a:ext cx="448056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Three-board redundant-sensor architecture with independent power domains and fault detection.</a:t>
            </a:r>
          </a:p>
        </p:txBody>
      </p:sp>
      <p:sp>
        <p:nvSpPr>
          <p:cNvPr id="61" name="Shape 31"/>
          <p:cNvSpPr/>
          <p:nvPr/>
        </p:nvSpPr>
        <p:spPr>
          <a:xfrm>
            <a:off x="3931919" y="2962655"/>
            <a:ext cx="4892042" cy="82296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" name="Shape 32"/>
          <p:cNvSpPr/>
          <p:nvPr/>
        </p:nvSpPr>
        <p:spPr>
          <a:xfrm>
            <a:off x="3931920" y="2962655"/>
            <a:ext cx="54865" cy="82296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33"/>
          <p:cNvSpPr txBox="1"/>
          <p:nvPr/>
        </p:nvSpPr>
        <p:spPr>
          <a:xfrm>
            <a:off x="4160519" y="3021383"/>
            <a:ext cx="44805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8FAFC"/>
                </a:solidFill>
              </a:defRPr>
            </a:lvl1pPr>
          </a:lstStyle>
          <a:p>
            <a:pPr/>
            <a:r>
              <a:t>Demonstrate powered vertical recovery</a:t>
            </a:r>
          </a:p>
        </p:txBody>
      </p:sp>
      <p:sp>
        <p:nvSpPr>
          <p:cNvPr id="64" name="Text 34"/>
          <p:cNvSpPr txBox="1"/>
          <p:nvPr/>
        </p:nvSpPr>
        <p:spPr>
          <a:xfrm>
            <a:off x="4160519" y="3287058"/>
            <a:ext cx="4480562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Full-profile autonomous flight: rail launch → guided ascent → altitude loiter → propulsive landing.</a:t>
            </a:r>
          </a:p>
        </p:txBody>
      </p:sp>
      <p:sp>
        <p:nvSpPr>
          <p:cNvPr id="65" name="Shape 35"/>
          <p:cNvSpPr/>
          <p:nvPr/>
        </p:nvSpPr>
        <p:spPr>
          <a:xfrm>
            <a:off x="3931919" y="3895343"/>
            <a:ext cx="4892042" cy="82296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36"/>
          <p:cNvSpPr/>
          <p:nvPr/>
        </p:nvSpPr>
        <p:spPr>
          <a:xfrm>
            <a:off x="3931920" y="3895343"/>
            <a:ext cx="54865" cy="82296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37"/>
          <p:cNvSpPr txBox="1"/>
          <p:nvPr/>
        </p:nvSpPr>
        <p:spPr>
          <a:xfrm>
            <a:off x="4160519" y="3954071"/>
            <a:ext cx="44805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F8FAFC"/>
                </a:solidFill>
              </a:defRPr>
            </a:lvl1pPr>
          </a:lstStyle>
          <a:p>
            <a:pPr/>
            <a:r>
              <a:t>Generate quantitative flight data</a:t>
            </a:r>
          </a:p>
        </p:txBody>
      </p:sp>
      <p:sp>
        <p:nvSpPr>
          <p:cNvPr id="68" name="Text 38"/>
          <p:cNvSpPr txBox="1"/>
          <p:nvPr/>
        </p:nvSpPr>
        <p:spPr>
          <a:xfrm>
            <a:off x="4160519" y="4302296"/>
            <a:ext cx="448056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Log 100Hz sensor fusion data via 915MHz LoRa for post-flight control law validation.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"/>
          <p:cNvSpPr txBox="1"/>
          <p:nvPr/>
        </p:nvSpPr>
        <p:spPr>
          <a:xfrm>
            <a:off x="548639" y="112303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VEHICLE</a:t>
            </a:r>
          </a:p>
        </p:txBody>
      </p:sp>
      <p:sp>
        <p:nvSpPr>
          <p:cNvPr id="72" name="Text 2"/>
          <p:cNvSpPr txBox="1"/>
          <p:nvPr/>
        </p:nvSpPr>
        <p:spPr>
          <a:xfrm>
            <a:off x="548639" y="274944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Vehicle Configuration</a:t>
            </a:r>
          </a:p>
        </p:txBody>
      </p:sp>
      <p:sp>
        <p:nvSpPr>
          <p:cNvPr id="73" name="Shape 3"/>
          <p:cNvSpPr/>
          <p:nvPr/>
        </p:nvSpPr>
        <p:spPr>
          <a:xfrm>
            <a:off x="548640" y="960119"/>
            <a:ext cx="731520" cy="548641"/>
          </a:xfrm>
          <a:prstGeom prst="triangle">
            <a:avLst/>
          </a:prstGeom>
          <a:solidFill>
            <a:srgbClr val="94A3B8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4"/>
          <p:cNvSpPr/>
          <p:nvPr/>
        </p:nvSpPr>
        <p:spPr>
          <a:xfrm>
            <a:off x="548639" y="1508760"/>
            <a:ext cx="731522" cy="320041"/>
          </a:xfrm>
          <a:prstGeom prst="rect">
            <a:avLst/>
          </a:prstGeom>
          <a:solidFill>
            <a:srgbClr val="1A2235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Shape 5"/>
          <p:cNvSpPr/>
          <p:nvPr/>
        </p:nvSpPr>
        <p:spPr>
          <a:xfrm>
            <a:off x="1325880" y="1668779"/>
            <a:ext cx="365761" cy="1"/>
          </a:xfrm>
          <a:prstGeom prst="line">
            <a:avLst/>
          </a:prstGeom>
          <a:ln w="6350">
            <a:solidFill>
              <a:srgbClr val="94A3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6"/>
          <p:cNvSpPr txBox="1"/>
          <p:nvPr/>
        </p:nvSpPr>
        <p:spPr>
          <a:xfrm>
            <a:off x="1783080" y="1574966"/>
            <a:ext cx="21945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Chute bay</a:t>
            </a:r>
          </a:p>
        </p:txBody>
      </p:sp>
      <p:sp>
        <p:nvSpPr>
          <p:cNvPr id="77" name="Shape 7"/>
          <p:cNvSpPr/>
          <p:nvPr/>
        </p:nvSpPr>
        <p:spPr>
          <a:xfrm>
            <a:off x="548639" y="1828800"/>
            <a:ext cx="731522" cy="457200"/>
          </a:xfrm>
          <a:prstGeom prst="rect">
            <a:avLst/>
          </a:prstGeom>
          <a:solidFill>
            <a:srgbClr val="1E3A5F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8"/>
          <p:cNvSpPr/>
          <p:nvPr/>
        </p:nvSpPr>
        <p:spPr>
          <a:xfrm>
            <a:off x="1325880" y="2057400"/>
            <a:ext cx="365761" cy="0"/>
          </a:xfrm>
          <a:prstGeom prst="line">
            <a:avLst/>
          </a:prstGeom>
          <a:ln w="6350">
            <a:solidFill>
              <a:srgbClr val="94A3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9"/>
          <p:cNvSpPr txBox="1"/>
          <p:nvPr/>
        </p:nvSpPr>
        <p:spPr>
          <a:xfrm>
            <a:off x="1783080" y="1963586"/>
            <a:ext cx="21945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ASAM-1 · mid fins</a:t>
            </a:r>
          </a:p>
        </p:txBody>
      </p:sp>
      <p:sp>
        <p:nvSpPr>
          <p:cNvPr id="80" name="Shape 10"/>
          <p:cNvSpPr/>
          <p:nvPr/>
        </p:nvSpPr>
        <p:spPr>
          <a:xfrm>
            <a:off x="548639" y="2285999"/>
            <a:ext cx="731522" cy="548642"/>
          </a:xfrm>
          <a:prstGeom prst="rect">
            <a:avLst/>
          </a:prstGeom>
          <a:solidFill>
            <a:srgbClr val="1E2D4A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11"/>
          <p:cNvSpPr/>
          <p:nvPr/>
        </p:nvSpPr>
        <p:spPr>
          <a:xfrm>
            <a:off x="1325880" y="2560320"/>
            <a:ext cx="365761" cy="1"/>
          </a:xfrm>
          <a:prstGeom prst="line">
            <a:avLst/>
          </a:prstGeom>
          <a:ln w="6350">
            <a:solidFill>
              <a:srgbClr val="94A3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2"/>
          <p:cNvSpPr txBox="1"/>
          <p:nvPr/>
        </p:nvSpPr>
        <p:spPr>
          <a:xfrm>
            <a:off x="1783080" y="2466506"/>
            <a:ext cx="21945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CCM · avionics · LoRa</a:t>
            </a:r>
          </a:p>
        </p:txBody>
      </p:sp>
      <p:sp>
        <p:nvSpPr>
          <p:cNvPr id="83" name="Shape 13"/>
          <p:cNvSpPr/>
          <p:nvPr/>
        </p:nvSpPr>
        <p:spPr>
          <a:xfrm>
            <a:off x="548639" y="2834639"/>
            <a:ext cx="731522" cy="685801"/>
          </a:xfrm>
          <a:prstGeom prst="rect">
            <a:avLst/>
          </a:prstGeom>
          <a:solidFill>
            <a:srgbClr val="2A1A0A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4"/>
          <p:cNvSpPr/>
          <p:nvPr/>
        </p:nvSpPr>
        <p:spPr>
          <a:xfrm>
            <a:off x="1325880" y="3177539"/>
            <a:ext cx="365761" cy="1"/>
          </a:xfrm>
          <a:prstGeom prst="line">
            <a:avLst/>
          </a:prstGeom>
          <a:ln w="6350">
            <a:solidFill>
              <a:srgbClr val="94A3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5"/>
          <p:cNvSpPr txBox="1"/>
          <p:nvPr/>
        </p:nvSpPr>
        <p:spPr>
          <a:xfrm>
            <a:off x="1783080" y="3083726"/>
            <a:ext cx="21945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ASAM-2 · jetavane · sustainer</a:t>
            </a:r>
          </a:p>
        </p:txBody>
      </p:sp>
      <p:sp>
        <p:nvSpPr>
          <p:cNvPr id="86" name="Shape 16"/>
          <p:cNvSpPr/>
          <p:nvPr/>
        </p:nvSpPr>
        <p:spPr>
          <a:xfrm>
            <a:off x="548639" y="3520440"/>
            <a:ext cx="731522" cy="365761"/>
          </a:xfrm>
          <a:prstGeom prst="rect">
            <a:avLst/>
          </a:prstGeom>
          <a:solidFill>
            <a:srgbClr val="1A2235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Shape 17"/>
          <p:cNvSpPr/>
          <p:nvPr/>
        </p:nvSpPr>
        <p:spPr>
          <a:xfrm>
            <a:off x="1325880" y="3703320"/>
            <a:ext cx="365761" cy="1"/>
          </a:xfrm>
          <a:prstGeom prst="line">
            <a:avLst/>
          </a:prstGeom>
          <a:ln w="6350">
            <a:solidFill>
              <a:srgbClr val="94A3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18"/>
          <p:cNvSpPr txBox="1"/>
          <p:nvPr/>
        </p:nvSpPr>
        <p:spPr>
          <a:xfrm>
            <a:off x="1783080" y="3609506"/>
            <a:ext cx="21945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CBD5E1"/>
                </a:solidFill>
              </a:defRPr>
            </a:lvl1pPr>
          </a:lstStyle>
          <a:p>
            <a:pPr/>
            <a:r>
              <a:t>Booster · eject ring</a:t>
            </a:r>
          </a:p>
        </p:txBody>
      </p:sp>
      <p:sp>
        <p:nvSpPr>
          <p:cNvPr id="89" name="Shape 19"/>
          <p:cNvSpPr/>
          <p:nvPr/>
        </p:nvSpPr>
        <p:spPr>
          <a:xfrm rot="10800000">
            <a:off x="594359" y="3886200"/>
            <a:ext cx="640082" cy="320040"/>
          </a:xfrm>
          <a:prstGeom prst="triangle">
            <a:avLst/>
          </a:prstGeom>
          <a:solidFill>
            <a:srgbClr val="1A2235"/>
          </a:solidFill>
          <a:ln w="635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20"/>
          <p:cNvSpPr/>
          <p:nvPr/>
        </p:nvSpPr>
        <p:spPr>
          <a:xfrm>
            <a:off x="4389120" y="914400"/>
            <a:ext cx="2194561" cy="71323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" name="Text 21"/>
          <p:cNvSpPr txBox="1"/>
          <p:nvPr/>
        </p:nvSpPr>
        <p:spPr>
          <a:xfrm>
            <a:off x="4544567" y="967644"/>
            <a:ext cx="190195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SCALE</a:t>
            </a:r>
          </a:p>
        </p:txBody>
      </p:sp>
      <p:sp>
        <p:nvSpPr>
          <p:cNvPr id="92" name="Text 22"/>
          <p:cNvSpPr txBox="1"/>
          <p:nvPr/>
        </p:nvSpPr>
        <p:spPr>
          <a:xfrm>
            <a:off x="4544567" y="1229159"/>
            <a:ext cx="19019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1:2.14 of full system</a:t>
            </a:r>
          </a:p>
        </p:txBody>
      </p:sp>
      <p:sp>
        <p:nvSpPr>
          <p:cNvPr id="93" name="Shape 23"/>
          <p:cNvSpPr/>
          <p:nvPr/>
        </p:nvSpPr>
        <p:spPr>
          <a:xfrm>
            <a:off x="4389120" y="1737360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" name="Text 24"/>
          <p:cNvSpPr txBox="1"/>
          <p:nvPr/>
        </p:nvSpPr>
        <p:spPr>
          <a:xfrm>
            <a:off x="4544567" y="1790604"/>
            <a:ext cx="190195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DIAMETER</a:t>
            </a:r>
          </a:p>
        </p:txBody>
      </p:sp>
      <p:sp>
        <p:nvSpPr>
          <p:cNvPr id="95" name="Text 25"/>
          <p:cNvSpPr txBox="1"/>
          <p:nvPr/>
        </p:nvSpPr>
        <p:spPr>
          <a:xfrm>
            <a:off x="4544567" y="2052119"/>
            <a:ext cx="19019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70mm OD</a:t>
            </a:r>
          </a:p>
        </p:txBody>
      </p:sp>
      <p:sp>
        <p:nvSpPr>
          <p:cNvPr id="96" name="Shape 26"/>
          <p:cNvSpPr/>
          <p:nvPr/>
        </p:nvSpPr>
        <p:spPr>
          <a:xfrm>
            <a:off x="4389120" y="2560320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7" name="Text 27"/>
          <p:cNvSpPr txBox="1"/>
          <p:nvPr/>
        </p:nvSpPr>
        <p:spPr>
          <a:xfrm>
            <a:off x="4544567" y="2613564"/>
            <a:ext cx="190195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LENGTH</a:t>
            </a:r>
          </a:p>
        </p:txBody>
      </p:sp>
      <p:sp>
        <p:nvSpPr>
          <p:cNvPr id="98" name="Text 28"/>
          <p:cNvSpPr txBox="1"/>
          <p:nvPr/>
        </p:nvSpPr>
        <p:spPr>
          <a:xfrm>
            <a:off x="4544567" y="2875079"/>
            <a:ext cx="19019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~1,170mm</a:t>
            </a:r>
          </a:p>
        </p:txBody>
      </p:sp>
      <p:sp>
        <p:nvSpPr>
          <p:cNvPr id="99" name="Shape 29"/>
          <p:cNvSpPr/>
          <p:nvPr/>
        </p:nvSpPr>
        <p:spPr>
          <a:xfrm>
            <a:off x="4389120" y="3383279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0" name="Text 30"/>
          <p:cNvSpPr txBox="1"/>
          <p:nvPr/>
        </p:nvSpPr>
        <p:spPr>
          <a:xfrm>
            <a:off x="4544567" y="3436524"/>
            <a:ext cx="190195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MASS (EST.)</a:t>
            </a:r>
          </a:p>
        </p:txBody>
      </p:sp>
      <p:sp>
        <p:nvSpPr>
          <p:cNvPr id="101" name="Text 31"/>
          <p:cNvSpPr txBox="1"/>
          <p:nvPr/>
        </p:nvSpPr>
        <p:spPr>
          <a:xfrm>
            <a:off x="4544567" y="3698039"/>
            <a:ext cx="19019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~640g all-up</a:t>
            </a:r>
          </a:p>
        </p:txBody>
      </p:sp>
      <p:sp>
        <p:nvSpPr>
          <p:cNvPr id="102" name="Shape 32"/>
          <p:cNvSpPr/>
          <p:nvPr/>
        </p:nvSpPr>
        <p:spPr>
          <a:xfrm>
            <a:off x="4389120" y="4206240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3" name="Text 33"/>
          <p:cNvSpPr txBox="1"/>
          <p:nvPr/>
        </p:nvSpPr>
        <p:spPr>
          <a:xfrm>
            <a:off x="4544567" y="4259484"/>
            <a:ext cx="1901953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STRUCTURE</a:t>
            </a:r>
          </a:p>
        </p:txBody>
      </p:sp>
      <p:sp>
        <p:nvSpPr>
          <p:cNvPr id="104" name="Text 34"/>
          <p:cNvSpPr txBox="1"/>
          <p:nvPr/>
        </p:nvSpPr>
        <p:spPr>
          <a:xfrm>
            <a:off x="4544567" y="4520999"/>
            <a:ext cx="1901953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PETG-CF printed</a:t>
            </a:r>
          </a:p>
        </p:txBody>
      </p:sp>
      <p:sp>
        <p:nvSpPr>
          <p:cNvPr id="105" name="Shape 35"/>
          <p:cNvSpPr/>
          <p:nvPr/>
        </p:nvSpPr>
        <p:spPr>
          <a:xfrm>
            <a:off x="6766559" y="914400"/>
            <a:ext cx="2194561" cy="71323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Text 36"/>
          <p:cNvSpPr txBox="1"/>
          <p:nvPr/>
        </p:nvSpPr>
        <p:spPr>
          <a:xfrm>
            <a:off x="6922007" y="967644"/>
            <a:ext cx="1901954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FIN RINGS</a:t>
            </a:r>
          </a:p>
        </p:txBody>
      </p:sp>
      <p:sp>
        <p:nvSpPr>
          <p:cNvPr id="107" name="Text 37"/>
          <p:cNvSpPr txBox="1"/>
          <p:nvPr/>
        </p:nvSpPr>
        <p:spPr>
          <a:xfrm>
            <a:off x="6922007" y="1229159"/>
            <a:ext cx="190195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1× active + 1× passive</a:t>
            </a:r>
          </a:p>
        </p:txBody>
      </p:sp>
      <p:sp>
        <p:nvSpPr>
          <p:cNvPr id="108" name="Shape 38"/>
          <p:cNvSpPr/>
          <p:nvPr/>
        </p:nvSpPr>
        <p:spPr>
          <a:xfrm>
            <a:off x="6766559" y="1737360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9" name="Text 39"/>
          <p:cNvSpPr txBox="1"/>
          <p:nvPr/>
        </p:nvSpPr>
        <p:spPr>
          <a:xfrm>
            <a:off x="6922007" y="1790604"/>
            <a:ext cx="1901954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TVC</a:t>
            </a:r>
          </a:p>
        </p:txBody>
      </p:sp>
      <p:sp>
        <p:nvSpPr>
          <p:cNvPr id="110" name="Text 40"/>
          <p:cNvSpPr txBox="1"/>
          <p:nvPr/>
        </p:nvSpPr>
        <p:spPr>
          <a:xfrm>
            <a:off x="6922007" y="2052119"/>
            <a:ext cx="190195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Ceramic jetavane</a:t>
            </a:r>
          </a:p>
        </p:txBody>
      </p:sp>
      <p:sp>
        <p:nvSpPr>
          <p:cNvPr id="111" name="Shape 41"/>
          <p:cNvSpPr/>
          <p:nvPr/>
        </p:nvSpPr>
        <p:spPr>
          <a:xfrm>
            <a:off x="6766559" y="2560320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2" name="Text 42"/>
          <p:cNvSpPr txBox="1"/>
          <p:nvPr/>
        </p:nvSpPr>
        <p:spPr>
          <a:xfrm>
            <a:off x="6922007" y="2613564"/>
            <a:ext cx="1901954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PROPULSION</a:t>
            </a:r>
          </a:p>
        </p:txBody>
      </p:sp>
      <p:sp>
        <p:nvSpPr>
          <p:cNvPr id="113" name="Text 43"/>
          <p:cNvSpPr txBox="1"/>
          <p:nvPr/>
        </p:nvSpPr>
        <p:spPr>
          <a:xfrm>
            <a:off x="6922007" y="2875079"/>
            <a:ext cx="190195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2-stage solid motor</a:t>
            </a:r>
          </a:p>
        </p:txBody>
      </p:sp>
      <p:sp>
        <p:nvSpPr>
          <p:cNvPr id="114" name="Shape 44"/>
          <p:cNvSpPr/>
          <p:nvPr/>
        </p:nvSpPr>
        <p:spPr>
          <a:xfrm>
            <a:off x="6766559" y="3383279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Text 45"/>
          <p:cNvSpPr txBox="1"/>
          <p:nvPr/>
        </p:nvSpPr>
        <p:spPr>
          <a:xfrm>
            <a:off x="6922007" y="3436524"/>
            <a:ext cx="1901954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RECOVERY</a:t>
            </a:r>
          </a:p>
        </p:txBody>
      </p:sp>
      <p:sp>
        <p:nvSpPr>
          <p:cNvPr id="116" name="Text 46"/>
          <p:cNvSpPr txBox="1"/>
          <p:nvPr/>
        </p:nvSpPr>
        <p:spPr>
          <a:xfrm>
            <a:off x="6922007" y="3698039"/>
            <a:ext cx="190195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Computer-triggered chute</a:t>
            </a:r>
          </a:p>
        </p:txBody>
      </p:sp>
      <p:sp>
        <p:nvSpPr>
          <p:cNvPr id="117" name="Shape 47"/>
          <p:cNvSpPr/>
          <p:nvPr/>
        </p:nvSpPr>
        <p:spPr>
          <a:xfrm>
            <a:off x="6766559" y="4206240"/>
            <a:ext cx="2194561" cy="7132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" name="Text 48"/>
          <p:cNvSpPr txBox="1"/>
          <p:nvPr/>
        </p:nvSpPr>
        <p:spPr>
          <a:xfrm>
            <a:off x="6922007" y="4259484"/>
            <a:ext cx="1901954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200" sz="700">
                <a:solidFill>
                  <a:srgbClr val="F59E0B"/>
                </a:solidFill>
              </a:defRPr>
            </a:lvl1pPr>
          </a:lstStyle>
          <a:p>
            <a:pPr/>
            <a:r>
              <a:t>DATALINK</a:t>
            </a:r>
          </a:p>
        </p:txBody>
      </p:sp>
      <p:sp>
        <p:nvSpPr>
          <p:cNvPr id="119" name="Text 49"/>
          <p:cNvSpPr txBox="1"/>
          <p:nvPr/>
        </p:nvSpPr>
        <p:spPr>
          <a:xfrm>
            <a:off x="6922007" y="4520999"/>
            <a:ext cx="1901954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F8FAFC"/>
                </a:solidFill>
              </a:defRPr>
            </a:lvl1pPr>
          </a:lstStyle>
          <a:p>
            <a:pPr/>
            <a:r>
              <a:t>915MHz LoRa · ~2km LoS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Text 1"/>
          <p:cNvSpPr txBox="1"/>
          <p:nvPr/>
        </p:nvSpPr>
        <p:spPr>
          <a:xfrm>
            <a:off x="548639" y="112303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CONTROL</a:t>
            </a:r>
          </a:p>
        </p:txBody>
      </p:sp>
      <p:sp>
        <p:nvSpPr>
          <p:cNvPr id="123" name="Text 2"/>
          <p:cNvSpPr txBox="1"/>
          <p:nvPr/>
        </p:nvSpPr>
        <p:spPr>
          <a:xfrm>
            <a:off x="548639" y="274944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Hybrid Control Architecture</a:t>
            </a:r>
          </a:p>
        </p:txBody>
      </p:sp>
      <p:sp>
        <p:nvSpPr>
          <p:cNvPr id="124" name="Text 3"/>
          <p:cNvSpPr txBox="1"/>
          <p:nvPr/>
        </p:nvSpPr>
        <p:spPr>
          <a:xfrm>
            <a:off x="457200" y="914399"/>
            <a:ext cx="3749040" cy="886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WYVERN employs a cascaded PID control system that blends aerodynamic authority from an active mid fin ring (Ring 2) with thrust-vector control from ceramic jetavanes. Passive aft fins (Ring 1) provide baseline stability. Authority allocation shifts with dynamic pressure.</a:t>
            </a:r>
          </a:p>
        </p:txBody>
      </p:sp>
      <p:sp>
        <p:nvSpPr>
          <p:cNvPr id="125" name="Shape 4"/>
          <p:cNvSpPr/>
          <p:nvPr/>
        </p:nvSpPr>
        <p:spPr>
          <a:xfrm>
            <a:off x="411480" y="1828799"/>
            <a:ext cx="3840480" cy="658370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" name="Shape 5"/>
          <p:cNvSpPr/>
          <p:nvPr/>
        </p:nvSpPr>
        <p:spPr>
          <a:xfrm>
            <a:off x="411480" y="1828799"/>
            <a:ext cx="54865" cy="65837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6"/>
          <p:cNvSpPr txBox="1"/>
          <p:nvPr/>
        </p:nvSpPr>
        <p:spPr>
          <a:xfrm>
            <a:off x="640079" y="1889681"/>
            <a:ext cx="34747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Outer loop — altitude</a:t>
            </a:r>
          </a:p>
        </p:txBody>
      </p:sp>
      <p:sp>
        <p:nvSpPr>
          <p:cNvPr id="128" name="Text 7"/>
          <p:cNvSpPr txBox="1"/>
          <p:nvPr/>
        </p:nvSpPr>
        <p:spPr>
          <a:xfrm>
            <a:off x="640079" y="2153456"/>
            <a:ext cx="3474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PID on altitude error → pitch/yaw setpoint</a:t>
            </a:r>
          </a:p>
        </p:txBody>
      </p:sp>
      <p:sp>
        <p:nvSpPr>
          <p:cNvPr id="129" name="Shape 8"/>
          <p:cNvSpPr/>
          <p:nvPr/>
        </p:nvSpPr>
        <p:spPr>
          <a:xfrm>
            <a:off x="411480" y="2578607"/>
            <a:ext cx="3840480" cy="658369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Shape 9"/>
          <p:cNvSpPr/>
          <p:nvPr/>
        </p:nvSpPr>
        <p:spPr>
          <a:xfrm>
            <a:off x="411480" y="2578607"/>
            <a:ext cx="54865" cy="65836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0"/>
          <p:cNvSpPr txBox="1"/>
          <p:nvPr/>
        </p:nvSpPr>
        <p:spPr>
          <a:xfrm>
            <a:off x="640079" y="2639489"/>
            <a:ext cx="34747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Inner loop — attitude</a:t>
            </a:r>
          </a:p>
        </p:txBody>
      </p:sp>
      <p:sp>
        <p:nvSpPr>
          <p:cNvPr id="132" name="Text 11"/>
          <p:cNvSpPr txBox="1"/>
          <p:nvPr/>
        </p:nvSpPr>
        <p:spPr>
          <a:xfrm>
            <a:off x="640079" y="2903264"/>
            <a:ext cx="3474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PID on quaternion error → fin + jetavane commands</a:t>
            </a:r>
          </a:p>
        </p:txBody>
      </p:sp>
      <p:sp>
        <p:nvSpPr>
          <p:cNvPr id="133" name="Shape 12"/>
          <p:cNvSpPr/>
          <p:nvPr/>
        </p:nvSpPr>
        <p:spPr>
          <a:xfrm>
            <a:off x="411480" y="3328415"/>
            <a:ext cx="3840480" cy="658369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4" name="Shape 13"/>
          <p:cNvSpPr/>
          <p:nvPr/>
        </p:nvSpPr>
        <p:spPr>
          <a:xfrm>
            <a:off x="411480" y="3328415"/>
            <a:ext cx="54865" cy="65836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4"/>
          <p:cNvSpPr txBox="1"/>
          <p:nvPr/>
        </p:nvSpPr>
        <p:spPr>
          <a:xfrm>
            <a:off x="640079" y="3389297"/>
            <a:ext cx="34747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TVC mixing</a:t>
            </a:r>
          </a:p>
        </p:txBody>
      </p:sp>
      <p:sp>
        <p:nvSpPr>
          <p:cNvPr id="136" name="Text 15"/>
          <p:cNvSpPr txBox="1"/>
          <p:nvPr/>
        </p:nvSpPr>
        <p:spPr>
          <a:xfrm>
            <a:off x="640079" y="3653072"/>
            <a:ext cx="3474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Pitch: jetavane A  ·  Yaw: jetavane B  ·  decoupled</a:t>
            </a:r>
          </a:p>
        </p:txBody>
      </p:sp>
      <p:sp>
        <p:nvSpPr>
          <p:cNvPr id="137" name="Shape 16"/>
          <p:cNvSpPr/>
          <p:nvPr/>
        </p:nvSpPr>
        <p:spPr>
          <a:xfrm>
            <a:off x="411480" y="4078223"/>
            <a:ext cx="3840480" cy="658369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Shape 17"/>
          <p:cNvSpPr/>
          <p:nvPr/>
        </p:nvSpPr>
        <p:spPr>
          <a:xfrm>
            <a:off x="411480" y="4078223"/>
            <a:ext cx="54865" cy="65836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18"/>
          <p:cNvSpPr txBox="1"/>
          <p:nvPr/>
        </p:nvSpPr>
        <p:spPr>
          <a:xfrm>
            <a:off x="640079" y="4139105"/>
            <a:ext cx="34747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Fin mixing</a:t>
            </a:r>
          </a:p>
        </p:txBody>
      </p:sp>
      <p:sp>
        <p:nvSpPr>
          <p:cNvPr id="140" name="Text 19"/>
          <p:cNvSpPr txBox="1"/>
          <p:nvPr/>
        </p:nvSpPr>
        <p:spPr>
          <a:xfrm>
            <a:off x="640079" y="4402880"/>
            <a:ext cx="3474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Pitch ±: top/bottom  ·  Yaw ±: left/right  ·  Roll: Ring 2 collective cant (45° clocking)</a:t>
            </a:r>
          </a:p>
        </p:txBody>
      </p:sp>
      <p:sp>
        <p:nvSpPr>
          <p:cNvPr id="141" name="Text 20"/>
          <p:cNvSpPr txBox="1"/>
          <p:nvPr/>
        </p:nvSpPr>
        <p:spPr>
          <a:xfrm>
            <a:off x="4709160" y="938706"/>
            <a:ext cx="40233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Control authority by phase</a:t>
            </a:r>
          </a:p>
        </p:txBody>
      </p:sp>
      <p:sp>
        <p:nvSpPr>
          <p:cNvPr id="142" name="Text 21"/>
          <p:cNvSpPr txBox="1"/>
          <p:nvPr/>
        </p:nvSpPr>
        <p:spPr>
          <a:xfrm>
            <a:off x="4709160" y="1293920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Boost</a:t>
            </a:r>
          </a:p>
        </p:txBody>
      </p:sp>
      <p:sp>
        <p:nvSpPr>
          <p:cNvPr id="143" name="Shape 22"/>
          <p:cNvSpPr/>
          <p:nvPr/>
        </p:nvSpPr>
        <p:spPr>
          <a:xfrm>
            <a:off x="6035040" y="1298447"/>
            <a:ext cx="2651761" cy="237744"/>
          </a:xfrm>
          <a:prstGeom prst="rect">
            <a:avLst/>
          </a:prstGeom>
          <a:solidFill>
            <a:srgbClr val="141B2B"/>
          </a:solidFill>
          <a:ln w="3175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23"/>
          <p:cNvSpPr/>
          <p:nvPr/>
        </p:nvSpPr>
        <p:spPr>
          <a:xfrm>
            <a:off x="6035040" y="1298447"/>
            <a:ext cx="2253997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Shape 24"/>
          <p:cNvSpPr/>
          <p:nvPr/>
        </p:nvSpPr>
        <p:spPr>
          <a:xfrm>
            <a:off x="8289035" y="1298447"/>
            <a:ext cx="397765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25"/>
          <p:cNvSpPr txBox="1"/>
          <p:nvPr/>
        </p:nvSpPr>
        <p:spPr>
          <a:xfrm>
            <a:off x="6099048" y="1310167"/>
            <a:ext cx="640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1A1A1A"/>
                </a:solidFill>
              </a:defRPr>
            </a:lvl1pPr>
          </a:lstStyle>
          <a:p>
            <a:pPr/>
            <a:r>
              <a:t>85%</a:t>
            </a:r>
          </a:p>
        </p:txBody>
      </p:sp>
      <p:sp>
        <p:nvSpPr>
          <p:cNvPr id="147" name="Text 26"/>
          <p:cNvSpPr txBox="1"/>
          <p:nvPr/>
        </p:nvSpPr>
        <p:spPr>
          <a:xfrm>
            <a:off x="4709160" y="2025440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Rail clear</a:t>
            </a:r>
          </a:p>
        </p:txBody>
      </p:sp>
      <p:sp>
        <p:nvSpPr>
          <p:cNvPr id="148" name="Shape 27"/>
          <p:cNvSpPr/>
          <p:nvPr/>
        </p:nvSpPr>
        <p:spPr>
          <a:xfrm>
            <a:off x="6035040" y="2029967"/>
            <a:ext cx="2651761" cy="237744"/>
          </a:xfrm>
          <a:prstGeom prst="rect">
            <a:avLst/>
          </a:prstGeom>
          <a:solidFill>
            <a:srgbClr val="141B2B"/>
          </a:solidFill>
          <a:ln w="3175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Shape 28"/>
          <p:cNvSpPr/>
          <p:nvPr/>
        </p:nvSpPr>
        <p:spPr>
          <a:xfrm>
            <a:off x="6035040" y="2029967"/>
            <a:ext cx="1591057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0" name="Shape 29"/>
          <p:cNvSpPr/>
          <p:nvPr/>
        </p:nvSpPr>
        <p:spPr>
          <a:xfrm>
            <a:off x="7626095" y="2029967"/>
            <a:ext cx="1060705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30"/>
          <p:cNvSpPr txBox="1"/>
          <p:nvPr/>
        </p:nvSpPr>
        <p:spPr>
          <a:xfrm>
            <a:off x="6099048" y="2041687"/>
            <a:ext cx="640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1A1A1A"/>
                </a:solidFill>
              </a:defRPr>
            </a:lvl1pPr>
          </a:lstStyle>
          <a:p>
            <a:pPr/>
            <a:r>
              <a:t>60%</a:t>
            </a:r>
          </a:p>
        </p:txBody>
      </p:sp>
      <p:sp>
        <p:nvSpPr>
          <p:cNvPr id="152" name="Text 31"/>
          <p:cNvSpPr txBox="1"/>
          <p:nvPr/>
        </p:nvSpPr>
        <p:spPr>
          <a:xfrm>
            <a:off x="4709160" y="2756960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Loiter</a:t>
            </a:r>
          </a:p>
        </p:txBody>
      </p:sp>
      <p:sp>
        <p:nvSpPr>
          <p:cNvPr id="153" name="Shape 32"/>
          <p:cNvSpPr/>
          <p:nvPr/>
        </p:nvSpPr>
        <p:spPr>
          <a:xfrm>
            <a:off x="6035040" y="2761488"/>
            <a:ext cx="2651761" cy="237744"/>
          </a:xfrm>
          <a:prstGeom prst="rect">
            <a:avLst/>
          </a:prstGeom>
          <a:solidFill>
            <a:srgbClr val="141B2B"/>
          </a:solidFill>
          <a:ln w="3175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Shape 33"/>
          <p:cNvSpPr/>
          <p:nvPr/>
        </p:nvSpPr>
        <p:spPr>
          <a:xfrm>
            <a:off x="6035040" y="2761488"/>
            <a:ext cx="795529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Shape 34"/>
          <p:cNvSpPr/>
          <p:nvPr/>
        </p:nvSpPr>
        <p:spPr>
          <a:xfrm>
            <a:off x="6830568" y="2761488"/>
            <a:ext cx="1856233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35"/>
          <p:cNvSpPr txBox="1"/>
          <p:nvPr/>
        </p:nvSpPr>
        <p:spPr>
          <a:xfrm>
            <a:off x="6099048" y="2773207"/>
            <a:ext cx="640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1A1A1A"/>
                </a:solidFill>
              </a:defRPr>
            </a:lvl1pPr>
          </a:lstStyle>
          <a:p>
            <a:pPr/>
            <a:r>
              <a:t>30%</a:t>
            </a:r>
          </a:p>
        </p:txBody>
      </p:sp>
      <p:sp>
        <p:nvSpPr>
          <p:cNvPr id="157" name="Text 36"/>
          <p:cNvSpPr txBox="1"/>
          <p:nvPr/>
        </p:nvSpPr>
        <p:spPr>
          <a:xfrm>
            <a:off x="4709160" y="3488480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Descent</a:t>
            </a:r>
          </a:p>
        </p:txBody>
      </p:sp>
      <p:sp>
        <p:nvSpPr>
          <p:cNvPr id="158" name="Shape 37"/>
          <p:cNvSpPr/>
          <p:nvPr/>
        </p:nvSpPr>
        <p:spPr>
          <a:xfrm>
            <a:off x="6035040" y="3493008"/>
            <a:ext cx="2651761" cy="237744"/>
          </a:xfrm>
          <a:prstGeom prst="rect">
            <a:avLst/>
          </a:prstGeom>
          <a:solidFill>
            <a:srgbClr val="141B2B"/>
          </a:solidFill>
          <a:ln w="3175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Shape 38"/>
          <p:cNvSpPr/>
          <p:nvPr/>
        </p:nvSpPr>
        <p:spPr>
          <a:xfrm>
            <a:off x="6035040" y="3493008"/>
            <a:ext cx="1325881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39"/>
          <p:cNvSpPr/>
          <p:nvPr/>
        </p:nvSpPr>
        <p:spPr>
          <a:xfrm>
            <a:off x="7360919" y="3493008"/>
            <a:ext cx="1325881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40"/>
          <p:cNvSpPr txBox="1"/>
          <p:nvPr/>
        </p:nvSpPr>
        <p:spPr>
          <a:xfrm>
            <a:off x="6099048" y="3504727"/>
            <a:ext cx="640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1A1A1A"/>
                </a:solidFill>
              </a:defRPr>
            </a:lvl1pPr>
          </a:lstStyle>
          <a:p>
            <a:pPr/>
            <a:r>
              <a:t>50%</a:t>
            </a:r>
          </a:p>
        </p:txBody>
      </p:sp>
      <p:sp>
        <p:nvSpPr>
          <p:cNvPr id="162" name="Text 41"/>
          <p:cNvSpPr txBox="1"/>
          <p:nvPr/>
        </p:nvSpPr>
        <p:spPr>
          <a:xfrm>
            <a:off x="4709160" y="4220000"/>
            <a:ext cx="1188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Landing burn</a:t>
            </a:r>
          </a:p>
        </p:txBody>
      </p:sp>
      <p:sp>
        <p:nvSpPr>
          <p:cNvPr id="163" name="Shape 42"/>
          <p:cNvSpPr/>
          <p:nvPr/>
        </p:nvSpPr>
        <p:spPr>
          <a:xfrm>
            <a:off x="6035040" y="4224528"/>
            <a:ext cx="2651761" cy="237744"/>
          </a:xfrm>
          <a:prstGeom prst="rect">
            <a:avLst/>
          </a:prstGeom>
          <a:solidFill>
            <a:srgbClr val="141B2B"/>
          </a:solidFill>
          <a:ln w="3175">
            <a:solidFill>
              <a:srgbClr val="FFFFFF">
                <a:alpha val="1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Shape 43"/>
          <p:cNvSpPr/>
          <p:nvPr/>
        </p:nvSpPr>
        <p:spPr>
          <a:xfrm>
            <a:off x="6035040" y="4224528"/>
            <a:ext cx="2121409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Shape 44"/>
          <p:cNvSpPr/>
          <p:nvPr/>
        </p:nvSpPr>
        <p:spPr>
          <a:xfrm>
            <a:off x="8156447" y="4224528"/>
            <a:ext cx="530353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45"/>
          <p:cNvSpPr txBox="1"/>
          <p:nvPr/>
        </p:nvSpPr>
        <p:spPr>
          <a:xfrm>
            <a:off x="6099048" y="4236247"/>
            <a:ext cx="64008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1A1A1A"/>
                </a:solidFill>
              </a:defRPr>
            </a:lvl1pPr>
          </a:lstStyle>
          <a:p>
            <a:pPr/>
            <a:r>
              <a:t>80%</a:t>
            </a:r>
          </a:p>
        </p:txBody>
      </p:sp>
      <p:sp>
        <p:nvSpPr>
          <p:cNvPr id="167" name="Shape 46"/>
          <p:cNvSpPr/>
          <p:nvPr/>
        </p:nvSpPr>
        <p:spPr>
          <a:xfrm>
            <a:off x="6035040" y="4892040"/>
            <a:ext cx="201169" cy="10972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47"/>
          <p:cNvSpPr txBox="1"/>
          <p:nvPr/>
        </p:nvSpPr>
        <p:spPr>
          <a:xfrm>
            <a:off x="6309360" y="4848895"/>
            <a:ext cx="11887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Jetavane TVC</a:t>
            </a:r>
          </a:p>
        </p:txBody>
      </p:sp>
      <p:sp>
        <p:nvSpPr>
          <p:cNvPr id="169" name="Shape 48"/>
          <p:cNvSpPr/>
          <p:nvPr/>
        </p:nvSpPr>
        <p:spPr>
          <a:xfrm>
            <a:off x="7498080" y="4892040"/>
            <a:ext cx="201169" cy="10972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49"/>
          <p:cNvSpPr txBox="1"/>
          <p:nvPr/>
        </p:nvSpPr>
        <p:spPr>
          <a:xfrm>
            <a:off x="7772400" y="4848895"/>
            <a:ext cx="118872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Aerodynamic fins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"/>
          <p:cNvSpPr txBox="1"/>
          <p:nvPr/>
        </p:nvSpPr>
        <p:spPr>
          <a:xfrm>
            <a:off x="548639" y="112303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AVIONICS</a:t>
            </a:r>
          </a:p>
        </p:txBody>
      </p:sp>
      <p:sp>
        <p:nvSpPr>
          <p:cNvPr id="174" name="Text 2"/>
          <p:cNvSpPr txBox="1"/>
          <p:nvPr/>
        </p:nvSpPr>
        <p:spPr>
          <a:xfrm>
            <a:off x="548639" y="274944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3-Board Distributed Avionics Stack</a:t>
            </a:r>
          </a:p>
        </p:txBody>
      </p:sp>
      <p:sp>
        <p:nvSpPr>
          <p:cNvPr id="175" name="Shape 3"/>
          <p:cNvSpPr/>
          <p:nvPr/>
        </p:nvSpPr>
        <p:spPr>
          <a:xfrm>
            <a:off x="411479" y="914399"/>
            <a:ext cx="2651762" cy="3977642"/>
          </a:xfrm>
          <a:prstGeom prst="rect">
            <a:avLst/>
          </a:prstGeom>
          <a:solidFill>
            <a:srgbClr val="0F4C5C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6" name="Shape 4"/>
          <p:cNvSpPr/>
          <p:nvPr/>
        </p:nvSpPr>
        <p:spPr>
          <a:xfrm>
            <a:off x="411479" y="914399"/>
            <a:ext cx="2651762" cy="7315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5"/>
          <p:cNvSpPr txBox="1"/>
          <p:nvPr/>
        </p:nvSpPr>
        <p:spPr>
          <a:xfrm>
            <a:off x="566927" y="1046061"/>
            <a:ext cx="2331722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8FAFC"/>
                </a:solidFill>
              </a:defRPr>
            </a:lvl1pPr>
          </a:lstStyle>
          <a:p>
            <a:pPr/>
            <a:r>
              <a:t>ASAM-1</a:t>
            </a:r>
          </a:p>
        </p:txBody>
      </p:sp>
      <p:sp>
        <p:nvSpPr>
          <p:cNvPr id="178" name="Text 6"/>
          <p:cNvSpPr txBox="1"/>
          <p:nvPr/>
        </p:nvSpPr>
        <p:spPr>
          <a:xfrm>
            <a:off x="566927" y="1385360"/>
            <a:ext cx="233172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14B8A6"/>
                </a:solidFill>
              </a:defRPr>
            </a:lvl1pPr>
          </a:lstStyle>
          <a:p>
            <a:pPr/>
            <a:r>
              <a:t>Mid Ring Controller</a:t>
            </a:r>
          </a:p>
        </p:txBody>
      </p:sp>
      <p:sp>
        <p:nvSpPr>
          <p:cNvPr id="179" name="Shape 7"/>
          <p:cNvSpPr/>
          <p:nvPr/>
        </p:nvSpPr>
        <p:spPr>
          <a:xfrm>
            <a:off x="521207" y="1664207"/>
            <a:ext cx="2423162" cy="1"/>
          </a:xfrm>
          <a:prstGeom prst="line">
            <a:avLst/>
          </a:prstGeom>
          <a:ln w="635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9"/>
          <p:cNvSpPr txBox="1"/>
          <p:nvPr/>
        </p:nvSpPr>
        <p:spPr>
          <a:xfrm>
            <a:off x="731520" y="1869992"/>
            <a:ext cx="21762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STM32F411 · Cortex-M4 100MHz</a:t>
            </a:r>
          </a:p>
        </p:txBody>
      </p:sp>
      <p:sp>
        <p:nvSpPr>
          <p:cNvPr id="181" name="Text 11"/>
          <p:cNvSpPr txBox="1"/>
          <p:nvPr/>
        </p:nvSpPr>
        <p:spPr>
          <a:xfrm>
            <a:off x="731520" y="2345480"/>
            <a:ext cx="21762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ICM-42688-P IMU · MS5611 baro</a:t>
            </a:r>
          </a:p>
        </p:txBody>
      </p:sp>
      <p:sp>
        <p:nvSpPr>
          <p:cNvPr id="182" name="Text 13"/>
          <p:cNvSpPr txBox="1"/>
          <p:nvPr/>
        </p:nvSpPr>
        <p:spPr>
          <a:xfrm>
            <a:off x="731520" y="2820968"/>
            <a:ext cx="21762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4× servo PWM · 7.4V HV rail</a:t>
            </a:r>
          </a:p>
        </p:txBody>
      </p:sp>
      <p:sp>
        <p:nvSpPr>
          <p:cNvPr id="183" name="Text 15"/>
          <p:cNvSpPr txBox="1"/>
          <p:nvPr/>
        </p:nvSpPr>
        <p:spPr>
          <a:xfrm>
            <a:off x="731520" y="3296456"/>
            <a:ext cx="21762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1S 1000mAh independent LiPo</a:t>
            </a:r>
          </a:p>
        </p:txBody>
      </p:sp>
      <p:sp>
        <p:nvSpPr>
          <p:cNvPr id="184" name="Shape 16"/>
          <p:cNvSpPr/>
          <p:nvPr/>
        </p:nvSpPr>
        <p:spPr>
          <a:xfrm>
            <a:off x="3291840" y="914399"/>
            <a:ext cx="2651761" cy="3977642"/>
          </a:xfrm>
          <a:prstGeom prst="rect">
            <a:avLst/>
          </a:prstGeom>
          <a:solidFill>
            <a:srgbClr val="1E3A5F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5" name="Shape 17"/>
          <p:cNvSpPr/>
          <p:nvPr/>
        </p:nvSpPr>
        <p:spPr>
          <a:xfrm>
            <a:off x="3291840" y="914399"/>
            <a:ext cx="2651761" cy="7315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8"/>
          <p:cNvSpPr txBox="1"/>
          <p:nvPr/>
        </p:nvSpPr>
        <p:spPr>
          <a:xfrm>
            <a:off x="3447287" y="1046061"/>
            <a:ext cx="233172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8FAFC"/>
                </a:solidFill>
              </a:defRPr>
            </a:lvl1pPr>
          </a:lstStyle>
          <a:p>
            <a:pPr/>
            <a:r>
              <a:t>CCM</a:t>
            </a:r>
          </a:p>
        </p:txBody>
      </p:sp>
      <p:sp>
        <p:nvSpPr>
          <p:cNvPr id="187" name="Text 19"/>
          <p:cNvSpPr txBox="1"/>
          <p:nvPr/>
        </p:nvSpPr>
        <p:spPr>
          <a:xfrm>
            <a:off x="3447287" y="1385360"/>
            <a:ext cx="2331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59E0B"/>
                </a:solidFill>
              </a:defRPr>
            </a:lvl1pPr>
          </a:lstStyle>
          <a:p>
            <a:pPr/>
            <a:r>
              <a:t>Central Command Module</a:t>
            </a:r>
          </a:p>
        </p:txBody>
      </p:sp>
      <p:sp>
        <p:nvSpPr>
          <p:cNvPr id="188" name="Shape 20"/>
          <p:cNvSpPr/>
          <p:nvPr/>
        </p:nvSpPr>
        <p:spPr>
          <a:xfrm>
            <a:off x="3401567" y="1664207"/>
            <a:ext cx="2423161" cy="1"/>
          </a:xfrm>
          <a:prstGeom prst="line">
            <a:avLst/>
          </a:prstGeom>
          <a:ln w="635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22"/>
          <p:cNvSpPr txBox="1"/>
          <p:nvPr/>
        </p:nvSpPr>
        <p:spPr>
          <a:xfrm>
            <a:off x="3611879" y="1869992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RP2040 · dual-core 133MHz</a:t>
            </a:r>
          </a:p>
        </p:txBody>
      </p:sp>
      <p:sp>
        <p:nvSpPr>
          <p:cNvPr id="190" name="Text 24"/>
          <p:cNvSpPr txBox="1"/>
          <p:nvPr/>
        </p:nvSpPr>
        <p:spPr>
          <a:xfrm>
            <a:off x="3611879" y="2345480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Primary IMU + barometer</a:t>
            </a:r>
          </a:p>
        </p:txBody>
      </p:sp>
      <p:sp>
        <p:nvSpPr>
          <p:cNvPr id="191" name="Text 26"/>
          <p:cNvSpPr txBox="1"/>
          <p:nvPr/>
        </p:nvSpPr>
        <p:spPr>
          <a:xfrm>
            <a:off x="3611879" y="2820968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3× pyrotechnic MOSFET channels</a:t>
            </a:r>
          </a:p>
        </p:txBody>
      </p:sp>
      <p:sp>
        <p:nvSpPr>
          <p:cNvPr id="192" name="Text 28"/>
          <p:cNvSpPr txBox="1"/>
          <p:nvPr/>
        </p:nvSpPr>
        <p:spPr>
          <a:xfrm>
            <a:off x="3611879" y="3296456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LoRa 915MHz · ~2km datalink</a:t>
            </a:r>
          </a:p>
        </p:txBody>
      </p:sp>
      <p:sp>
        <p:nvSpPr>
          <p:cNvPr id="193" name="Shape 29"/>
          <p:cNvSpPr/>
          <p:nvPr/>
        </p:nvSpPr>
        <p:spPr>
          <a:xfrm>
            <a:off x="6172199" y="914399"/>
            <a:ext cx="2651762" cy="3977642"/>
          </a:xfrm>
          <a:prstGeom prst="rect">
            <a:avLst/>
          </a:prstGeom>
          <a:solidFill>
            <a:srgbClr val="4A1A0A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4" name="Shape 30"/>
          <p:cNvSpPr/>
          <p:nvPr/>
        </p:nvSpPr>
        <p:spPr>
          <a:xfrm>
            <a:off x="6172199" y="914399"/>
            <a:ext cx="2651762" cy="7315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31"/>
          <p:cNvSpPr txBox="1"/>
          <p:nvPr/>
        </p:nvSpPr>
        <p:spPr>
          <a:xfrm>
            <a:off x="6327648" y="1046061"/>
            <a:ext cx="233172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F8FAFC"/>
                </a:solidFill>
              </a:defRPr>
            </a:lvl1pPr>
          </a:lstStyle>
          <a:p>
            <a:pPr/>
            <a:r>
              <a:t>ASAM-2</a:t>
            </a:r>
          </a:p>
        </p:txBody>
      </p:sp>
      <p:sp>
        <p:nvSpPr>
          <p:cNvPr id="196" name="Text 32"/>
          <p:cNvSpPr txBox="1"/>
          <p:nvPr/>
        </p:nvSpPr>
        <p:spPr>
          <a:xfrm>
            <a:off x="6327648" y="1385360"/>
            <a:ext cx="233172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F97316"/>
                </a:solidFill>
              </a:defRPr>
            </a:lvl1pPr>
          </a:lstStyle>
          <a:p>
            <a:pPr/>
            <a:r>
              <a:t>TVC + Sustainer Controller</a:t>
            </a:r>
          </a:p>
        </p:txBody>
      </p:sp>
      <p:sp>
        <p:nvSpPr>
          <p:cNvPr id="197" name="Shape 33"/>
          <p:cNvSpPr/>
          <p:nvPr/>
        </p:nvSpPr>
        <p:spPr>
          <a:xfrm>
            <a:off x="6281928" y="1664207"/>
            <a:ext cx="2423161" cy="1"/>
          </a:xfrm>
          <a:prstGeom prst="line">
            <a:avLst/>
          </a:prstGeom>
          <a:ln w="635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35"/>
          <p:cNvSpPr txBox="1"/>
          <p:nvPr/>
        </p:nvSpPr>
        <p:spPr>
          <a:xfrm>
            <a:off x="6492240" y="1869992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STM32F411 · Cortex-M4 100MHz</a:t>
            </a:r>
          </a:p>
        </p:txBody>
      </p:sp>
      <p:sp>
        <p:nvSpPr>
          <p:cNvPr id="199" name="Text 37"/>
          <p:cNvSpPr txBox="1"/>
          <p:nvPr/>
        </p:nvSpPr>
        <p:spPr>
          <a:xfrm>
            <a:off x="6492240" y="2345480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ICM-42688-P IMU · MS5611 baro</a:t>
            </a:r>
          </a:p>
        </p:txBody>
      </p:sp>
      <p:sp>
        <p:nvSpPr>
          <p:cNvPr id="200" name="Text 39"/>
          <p:cNvSpPr txBox="1"/>
          <p:nvPr/>
        </p:nvSpPr>
        <p:spPr>
          <a:xfrm>
            <a:off x="6492240" y="2820968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3× servo PWM (jetavane + slide)</a:t>
            </a:r>
          </a:p>
        </p:txBody>
      </p:sp>
      <p:sp>
        <p:nvSpPr>
          <p:cNvPr id="201" name="Text 41"/>
          <p:cNvSpPr txBox="1"/>
          <p:nvPr/>
        </p:nvSpPr>
        <p:spPr>
          <a:xfrm>
            <a:off x="6492240" y="3296456"/>
            <a:ext cx="21762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Sustainer ignition relay</a:t>
            </a:r>
          </a:p>
        </p:txBody>
      </p:sp>
      <p:sp>
        <p:nvSpPr>
          <p:cNvPr id="202" name="Shape 42"/>
          <p:cNvSpPr/>
          <p:nvPr/>
        </p:nvSpPr>
        <p:spPr>
          <a:xfrm>
            <a:off x="411479" y="4864608"/>
            <a:ext cx="8321042" cy="201169"/>
          </a:xfrm>
          <a:prstGeom prst="rect">
            <a:avLst/>
          </a:prstGeom>
          <a:solidFill>
            <a:srgbClr val="141B2B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3" name="Text 43"/>
          <p:cNvSpPr txBox="1"/>
          <p:nvPr/>
        </p:nvSpPr>
        <p:spPr>
          <a:xfrm>
            <a:off x="548640" y="4867183"/>
            <a:ext cx="8046720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All boards: 62mm circular · 2-layer FR4 · ENIG · EasyEDA design · JLCPCB fabrication + SMT assembly  ·  Power fully independent per board  ·  JST-GH 8-pin inter-board ribbon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"/>
          <p:cNvSpPr txBox="1"/>
          <p:nvPr/>
        </p:nvSpPr>
        <p:spPr>
          <a:xfrm>
            <a:off x="548639" y="112303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FLIGHT PROFILE</a:t>
            </a:r>
          </a:p>
        </p:txBody>
      </p:sp>
      <p:sp>
        <p:nvSpPr>
          <p:cNvPr id="207" name="Text 2"/>
          <p:cNvSpPr txBox="1"/>
          <p:nvPr/>
        </p:nvSpPr>
        <p:spPr>
          <a:xfrm>
            <a:off x="548639" y="274944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Autonomous 8-Phase Flight Profile</a:t>
            </a:r>
          </a:p>
        </p:txBody>
      </p:sp>
      <p:sp>
        <p:nvSpPr>
          <p:cNvPr id="208" name="Shape 3"/>
          <p:cNvSpPr/>
          <p:nvPr/>
        </p:nvSpPr>
        <p:spPr>
          <a:xfrm>
            <a:off x="365759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94A3B8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Shape 4"/>
          <p:cNvSpPr/>
          <p:nvPr/>
        </p:nvSpPr>
        <p:spPr>
          <a:xfrm>
            <a:off x="365759" y="960119"/>
            <a:ext cx="1005840" cy="6400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Text 6"/>
          <p:cNvSpPr txBox="1"/>
          <p:nvPr/>
        </p:nvSpPr>
        <p:spPr>
          <a:xfrm>
            <a:off x="713232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94A3B8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1" name="Text 7"/>
          <p:cNvSpPr txBox="1"/>
          <p:nvPr/>
        </p:nvSpPr>
        <p:spPr>
          <a:xfrm>
            <a:off x="466344" y="1613960"/>
            <a:ext cx="8046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Safe</a:t>
            </a:r>
          </a:p>
        </p:txBody>
      </p:sp>
      <p:sp>
        <p:nvSpPr>
          <p:cNvPr id="212" name="Text 8"/>
          <p:cNvSpPr txBox="1"/>
          <p:nvPr/>
        </p:nvSpPr>
        <p:spPr>
          <a:xfrm>
            <a:off x="466344" y="2033051"/>
            <a:ext cx="804672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Pre-arm · servos neutral</a:t>
            </a:r>
          </a:p>
        </p:txBody>
      </p:sp>
      <p:sp>
        <p:nvSpPr>
          <p:cNvPr id="213" name="Shape 9"/>
          <p:cNvSpPr/>
          <p:nvPr/>
        </p:nvSpPr>
        <p:spPr>
          <a:xfrm>
            <a:off x="1371599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Shape 10"/>
          <p:cNvSpPr/>
          <p:nvPr/>
        </p:nvSpPr>
        <p:spPr>
          <a:xfrm>
            <a:off x="1444752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14B8A6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Shape 11"/>
          <p:cNvSpPr/>
          <p:nvPr/>
        </p:nvSpPr>
        <p:spPr>
          <a:xfrm>
            <a:off x="1444752" y="960119"/>
            <a:ext cx="1005840" cy="6400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13"/>
          <p:cNvSpPr txBox="1"/>
          <p:nvPr/>
        </p:nvSpPr>
        <p:spPr>
          <a:xfrm>
            <a:off x="1792224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4B8A6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17" name="Text 14"/>
          <p:cNvSpPr txBox="1"/>
          <p:nvPr/>
        </p:nvSpPr>
        <p:spPr>
          <a:xfrm>
            <a:off x="1545336" y="1613960"/>
            <a:ext cx="8046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Armed</a:t>
            </a:r>
          </a:p>
        </p:txBody>
      </p:sp>
      <p:sp>
        <p:nvSpPr>
          <p:cNvPr id="218" name="Text 15"/>
          <p:cNvSpPr txBox="1"/>
          <p:nvPr/>
        </p:nvSpPr>
        <p:spPr>
          <a:xfrm>
            <a:off x="1545336" y="1969551"/>
            <a:ext cx="804673" cy="450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IMU cal · GCS link · pyro continuity</a:t>
            </a:r>
          </a:p>
        </p:txBody>
      </p:sp>
      <p:sp>
        <p:nvSpPr>
          <p:cNvPr id="219" name="Shape 16"/>
          <p:cNvSpPr/>
          <p:nvPr/>
        </p:nvSpPr>
        <p:spPr>
          <a:xfrm>
            <a:off x="2450592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Shape 17"/>
          <p:cNvSpPr/>
          <p:nvPr/>
        </p:nvSpPr>
        <p:spPr>
          <a:xfrm>
            <a:off x="2523744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F59E0B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Shape 18"/>
          <p:cNvSpPr/>
          <p:nvPr/>
        </p:nvSpPr>
        <p:spPr>
          <a:xfrm>
            <a:off x="2523744" y="960119"/>
            <a:ext cx="1005840" cy="6400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20"/>
          <p:cNvSpPr txBox="1"/>
          <p:nvPr/>
        </p:nvSpPr>
        <p:spPr>
          <a:xfrm>
            <a:off x="2871215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59E0B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23" name="Text 21"/>
          <p:cNvSpPr txBox="1"/>
          <p:nvPr/>
        </p:nvSpPr>
        <p:spPr>
          <a:xfrm>
            <a:off x="2624327" y="1613960"/>
            <a:ext cx="8046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Boost</a:t>
            </a:r>
          </a:p>
        </p:txBody>
      </p:sp>
      <p:sp>
        <p:nvSpPr>
          <p:cNvPr id="224" name="Text 22"/>
          <p:cNvSpPr txBox="1"/>
          <p:nvPr/>
        </p:nvSpPr>
        <p:spPr>
          <a:xfrm>
            <a:off x="2624327" y="2033051"/>
            <a:ext cx="804673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Booster ignites · rail exit</a:t>
            </a:r>
          </a:p>
        </p:txBody>
      </p:sp>
      <p:sp>
        <p:nvSpPr>
          <p:cNvPr id="225" name="Shape 23"/>
          <p:cNvSpPr/>
          <p:nvPr/>
        </p:nvSpPr>
        <p:spPr>
          <a:xfrm>
            <a:off x="3529584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Shape 24"/>
          <p:cNvSpPr/>
          <p:nvPr/>
        </p:nvSpPr>
        <p:spPr>
          <a:xfrm>
            <a:off x="3602735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F59E0B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Shape 25"/>
          <p:cNvSpPr/>
          <p:nvPr/>
        </p:nvSpPr>
        <p:spPr>
          <a:xfrm>
            <a:off x="3602735" y="960119"/>
            <a:ext cx="1005840" cy="64009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27"/>
          <p:cNvSpPr txBox="1"/>
          <p:nvPr/>
        </p:nvSpPr>
        <p:spPr>
          <a:xfrm>
            <a:off x="3950208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59E0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29" name="Text 28"/>
          <p:cNvSpPr txBox="1"/>
          <p:nvPr/>
        </p:nvSpPr>
        <p:spPr>
          <a:xfrm>
            <a:off x="3703320" y="1613960"/>
            <a:ext cx="80467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Rail clear</a:t>
            </a:r>
          </a:p>
        </p:txBody>
      </p:sp>
      <p:sp>
        <p:nvSpPr>
          <p:cNvPr id="230" name="Text 29"/>
          <p:cNvSpPr txBox="1"/>
          <p:nvPr/>
        </p:nvSpPr>
        <p:spPr>
          <a:xfrm>
            <a:off x="3703320" y="2033051"/>
            <a:ext cx="804672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Fins active · attitude hold</a:t>
            </a:r>
          </a:p>
        </p:txBody>
      </p:sp>
      <p:sp>
        <p:nvSpPr>
          <p:cNvPr id="231" name="Shape 30"/>
          <p:cNvSpPr/>
          <p:nvPr/>
        </p:nvSpPr>
        <p:spPr>
          <a:xfrm>
            <a:off x="4608576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31"/>
          <p:cNvSpPr/>
          <p:nvPr/>
        </p:nvSpPr>
        <p:spPr>
          <a:xfrm>
            <a:off x="4681728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F97316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Shape 32"/>
          <p:cNvSpPr/>
          <p:nvPr/>
        </p:nvSpPr>
        <p:spPr>
          <a:xfrm>
            <a:off x="4681728" y="960119"/>
            <a:ext cx="1005840" cy="6400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34"/>
          <p:cNvSpPr txBox="1"/>
          <p:nvPr/>
        </p:nvSpPr>
        <p:spPr>
          <a:xfrm>
            <a:off x="5029199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97316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35" name="Text 35"/>
          <p:cNvSpPr txBox="1"/>
          <p:nvPr/>
        </p:nvSpPr>
        <p:spPr>
          <a:xfrm>
            <a:off x="4782311" y="1613960"/>
            <a:ext cx="8046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Staging</a:t>
            </a:r>
          </a:p>
        </p:txBody>
      </p:sp>
      <p:sp>
        <p:nvSpPr>
          <p:cNvPr id="236" name="Text 36"/>
          <p:cNvSpPr txBox="1"/>
          <p:nvPr/>
        </p:nvSpPr>
        <p:spPr>
          <a:xfrm>
            <a:off x="4782311" y="2033051"/>
            <a:ext cx="804673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Booster eject · sustainer ignition</a:t>
            </a:r>
          </a:p>
        </p:txBody>
      </p:sp>
      <p:sp>
        <p:nvSpPr>
          <p:cNvPr id="237" name="Shape 37"/>
          <p:cNvSpPr/>
          <p:nvPr/>
        </p:nvSpPr>
        <p:spPr>
          <a:xfrm>
            <a:off x="5687567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38"/>
          <p:cNvSpPr/>
          <p:nvPr/>
        </p:nvSpPr>
        <p:spPr>
          <a:xfrm>
            <a:off x="5760720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10B981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Shape 39"/>
          <p:cNvSpPr/>
          <p:nvPr/>
        </p:nvSpPr>
        <p:spPr>
          <a:xfrm>
            <a:off x="5760720" y="960119"/>
            <a:ext cx="1005840" cy="64009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41"/>
          <p:cNvSpPr txBox="1"/>
          <p:nvPr/>
        </p:nvSpPr>
        <p:spPr>
          <a:xfrm>
            <a:off x="6108191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0B981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41" name="Text 42"/>
          <p:cNvSpPr txBox="1"/>
          <p:nvPr/>
        </p:nvSpPr>
        <p:spPr>
          <a:xfrm>
            <a:off x="5861304" y="1613960"/>
            <a:ext cx="8046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Loiter</a:t>
            </a:r>
          </a:p>
        </p:txBody>
      </p:sp>
      <p:sp>
        <p:nvSpPr>
          <p:cNvPr id="242" name="Text 43"/>
          <p:cNvSpPr txBox="1"/>
          <p:nvPr/>
        </p:nvSpPr>
        <p:spPr>
          <a:xfrm>
            <a:off x="5861304" y="2033051"/>
            <a:ext cx="804673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Altitude hold · jetavane + fins</a:t>
            </a:r>
          </a:p>
        </p:txBody>
      </p:sp>
      <p:sp>
        <p:nvSpPr>
          <p:cNvPr id="243" name="Shape 44"/>
          <p:cNvSpPr/>
          <p:nvPr/>
        </p:nvSpPr>
        <p:spPr>
          <a:xfrm>
            <a:off x="6766559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Shape 45"/>
          <p:cNvSpPr/>
          <p:nvPr/>
        </p:nvSpPr>
        <p:spPr>
          <a:xfrm>
            <a:off x="6839711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F97316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Shape 46"/>
          <p:cNvSpPr/>
          <p:nvPr/>
        </p:nvSpPr>
        <p:spPr>
          <a:xfrm>
            <a:off x="6839711" y="960119"/>
            <a:ext cx="1005840" cy="64009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48"/>
          <p:cNvSpPr txBox="1"/>
          <p:nvPr/>
        </p:nvSpPr>
        <p:spPr>
          <a:xfrm>
            <a:off x="7187184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F97316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47" name="Text 49"/>
          <p:cNvSpPr txBox="1"/>
          <p:nvPr/>
        </p:nvSpPr>
        <p:spPr>
          <a:xfrm>
            <a:off x="6940296" y="1613960"/>
            <a:ext cx="8046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Descent</a:t>
            </a:r>
          </a:p>
        </p:txBody>
      </p:sp>
      <p:sp>
        <p:nvSpPr>
          <p:cNvPr id="248" name="Text 50"/>
          <p:cNvSpPr txBox="1"/>
          <p:nvPr/>
        </p:nvSpPr>
        <p:spPr>
          <a:xfrm>
            <a:off x="6940296" y="1969551"/>
            <a:ext cx="804673" cy="450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Thrust-modulated landing burn</a:t>
            </a:r>
          </a:p>
        </p:txBody>
      </p:sp>
      <p:sp>
        <p:nvSpPr>
          <p:cNvPr id="249" name="Shape 51"/>
          <p:cNvSpPr/>
          <p:nvPr/>
        </p:nvSpPr>
        <p:spPr>
          <a:xfrm>
            <a:off x="7845552" y="1463039"/>
            <a:ext cx="73153" cy="1"/>
          </a:xfrm>
          <a:prstGeom prst="line">
            <a:avLst/>
          </a:prstGeom>
          <a:ln w="6350">
            <a:solidFill>
              <a:srgbClr val="94A3B8">
                <a:alpha val="5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Shape 52"/>
          <p:cNvSpPr/>
          <p:nvPr/>
        </p:nvSpPr>
        <p:spPr>
          <a:xfrm>
            <a:off x="7918704" y="960119"/>
            <a:ext cx="1005840" cy="2194561"/>
          </a:xfrm>
          <a:prstGeom prst="rect">
            <a:avLst/>
          </a:prstGeom>
          <a:solidFill>
            <a:srgbClr val="1A2235"/>
          </a:solidFill>
          <a:ln w="10160">
            <a:solidFill>
              <a:srgbClr val="14B8A6">
                <a:alpha val="6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Shape 53"/>
          <p:cNvSpPr/>
          <p:nvPr/>
        </p:nvSpPr>
        <p:spPr>
          <a:xfrm>
            <a:off x="7918704" y="960119"/>
            <a:ext cx="1005840" cy="6400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55"/>
          <p:cNvSpPr txBox="1"/>
          <p:nvPr/>
        </p:nvSpPr>
        <p:spPr>
          <a:xfrm>
            <a:off x="8266176" y="1151059"/>
            <a:ext cx="310897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300">
                <a:solidFill>
                  <a:srgbClr val="14B8A6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53" name="Text 56"/>
          <p:cNvSpPr txBox="1"/>
          <p:nvPr/>
        </p:nvSpPr>
        <p:spPr>
          <a:xfrm>
            <a:off x="8019288" y="1613960"/>
            <a:ext cx="804673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Touchdown</a:t>
            </a:r>
          </a:p>
        </p:txBody>
      </p:sp>
      <p:sp>
        <p:nvSpPr>
          <p:cNvPr id="254" name="Text 57"/>
          <p:cNvSpPr txBox="1"/>
          <p:nvPr/>
        </p:nvSpPr>
        <p:spPr>
          <a:xfrm>
            <a:off x="8019288" y="2033051"/>
            <a:ext cx="804673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Impact detect · disarm</a:t>
            </a:r>
          </a:p>
        </p:txBody>
      </p:sp>
      <p:sp>
        <p:nvSpPr>
          <p:cNvPr id="255" name="Shape 58"/>
          <p:cNvSpPr/>
          <p:nvPr/>
        </p:nvSpPr>
        <p:spPr>
          <a:xfrm>
            <a:off x="365759" y="3337559"/>
            <a:ext cx="8412482" cy="658369"/>
          </a:xfrm>
          <a:prstGeom prst="rect">
            <a:avLst/>
          </a:prstGeom>
          <a:solidFill>
            <a:srgbClr val="3A0000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6" name="Shape 59"/>
          <p:cNvSpPr/>
          <p:nvPr/>
        </p:nvSpPr>
        <p:spPr>
          <a:xfrm>
            <a:off x="365759" y="3337559"/>
            <a:ext cx="54865" cy="658369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60"/>
          <p:cNvSpPr txBox="1"/>
          <p:nvPr/>
        </p:nvSpPr>
        <p:spPr>
          <a:xfrm>
            <a:off x="594360" y="3416730"/>
            <a:ext cx="21945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CA5A5"/>
                </a:solidFill>
              </a:defRPr>
            </a:lvl1pPr>
          </a:lstStyle>
          <a:p>
            <a:pPr/>
            <a:r>
              <a:t>Phase 8 — ABORT</a:t>
            </a:r>
          </a:p>
        </p:txBody>
      </p:sp>
      <p:sp>
        <p:nvSpPr>
          <p:cNvPr id="258" name="Text 61"/>
          <p:cNvSpPr txBox="1"/>
          <p:nvPr/>
        </p:nvSpPr>
        <p:spPr>
          <a:xfrm>
            <a:off x="2788919" y="3466505"/>
            <a:ext cx="5760722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GCS abort command OR attitude error &gt;45° for &gt;0.5s OR altitude runaway → ejection charge fires → nose cone separates → 24in parachute deploys → ballistic recovery</a:t>
            </a:r>
          </a:p>
        </p:txBody>
      </p:sp>
      <p:sp>
        <p:nvSpPr>
          <p:cNvPr id="259" name="Text 62"/>
          <p:cNvSpPr txBox="1"/>
          <p:nvPr/>
        </p:nvSpPr>
        <p:spPr>
          <a:xfrm>
            <a:off x="960119" y="4219292"/>
            <a:ext cx="155448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59E0B"/>
                </a:solidFill>
              </a:defRPr>
            </a:lvl1pPr>
          </a:lstStyle>
          <a:p>
            <a:pPr/>
            <a:r>
              <a:t>~120m</a:t>
            </a:r>
          </a:p>
        </p:txBody>
      </p:sp>
      <p:sp>
        <p:nvSpPr>
          <p:cNvPr id="260" name="Text 63"/>
          <p:cNvSpPr txBox="1"/>
          <p:nvPr/>
        </p:nvSpPr>
        <p:spPr>
          <a:xfrm>
            <a:off x="960119" y="4624491"/>
            <a:ext cx="15544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target altitude (nominal)</a:t>
            </a:r>
          </a:p>
        </p:txBody>
      </p:sp>
      <p:sp>
        <p:nvSpPr>
          <p:cNvPr id="261" name="Text 64"/>
          <p:cNvSpPr txBox="1"/>
          <p:nvPr/>
        </p:nvSpPr>
        <p:spPr>
          <a:xfrm>
            <a:off x="2880359" y="4219292"/>
            <a:ext cx="155448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59E0B"/>
                </a:solidFill>
              </a:defRPr>
            </a:lvl1pPr>
          </a:lstStyle>
          <a:p>
            <a:pPr/>
            <a:r>
              <a:t>10–20s</a:t>
            </a:r>
          </a:p>
        </p:txBody>
      </p:sp>
      <p:sp>
        <p:nvSpPr>
          <p:cNvPr id="262" name="Text 65"/>
          <p:cNvSpPr txBox="1"/>
          <p:nvPr/>
        </p:nvSpPr>
        <p:spPr>
          <a:xfrm>
            <a:off x="2880359" y="4624491"/>
            <a:ext cx="155448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loiter duration</a:t>
            </a:r>
          </a:p>
        </p:txBody>
      </p:sp>
      <p:sp>
        <p:nvSpPr>
          <p:cNvPr id="263" name="Text 66"/>
          <p:cNvSpPr txBox="1"/>
          <p:nvPr/>
        </p:nvSpPr>
        <p:spPr>
          <a:xfrm>
            <a:off x="4800599" y="4219292"/>
            <a:ext cx="15544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59E0B"/>
                </a:solidFill>
              </a:defRPr>
            </a:lvl1pPr>
          </a:lstStyle>
          <a:p>
            <a:pPr/>
            <a:r>
              <a:t>&lt;1 m/s</a:t>
            </a:r>
          </a:p>
        </p:txBody>
      </p:sp>
      <p:sp>
        <p:nvSpPr>
          <p:cNvPr id="264" name="Text 67"/>
          <p:cNvSpPr txBox="1"/>
          <p:nvPr/>
        </p:nvSpPr>
        <p:spPr>
          <a:xfrm>
            <a:off x="4800599" y="4624491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touchdown velocity</a:t>
            </a:r>
          </a:p>
        </p:txBody>
      </p:sp>
      <p:sp>
        <p:nvSpPr>
          <p:cNvPr id="265" name="Text 68"/>
          <p:cNvSpPr txBox="1"/>
          <p:nvPr/>
        </p:nvSpPr>
        <p:spPr>
          <a:xfrm>
            <a:off x="6720839" y="4219292"/>
            <a:ext cx="1554481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59E0B"/>
                </a:solidFill>
              </a:defRPr>
            </a:lvl1pPr>
          </a:lstStyle>
          <a:p>
            <a:pPr/>
            <a:r>
              <a:t>100Hz</a:t>
            </a:r>
          </a:p>
        </p:txBody>
      </p:sp>
      <p:sp>
        <p:nvSpPr>
          <p:cNvPr id="266" name="Text 69"/>
          <p:cNvSpPr txBox="1"/>
          <p:nvPr/>
        </p:nvSpPr>
        <p:spPr>
          <a:xfrm>
            <a:off x="6720839" y="4624491"/>
            <a:ext cx="15544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sensor log rate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1"/>
          <p:cNvSpPr/>
          <p:nvPr/>
        </p:nvSpPr>
        <p:spPr>
          <a:xfrm>
            <a:off x="3840479" y="0"/>
            <a:ext cx="45721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2"/>
          <p:cNvSpPr txBox="1"/>
          <p:nvPr/>
        </p:nvSpPr>
        <p:spPr>
          <a:xfrm>
            <a:off x="548639" y="276895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TVC</a:t>
            </a:r>
          </a:p>
        </p:txBody>
      </p:sp>
      <p:sp>
        <p:nvSpPr>
          <p:cNvPr id="271" name="Text 3"/>
          <p:cNvSpPr txBox="1"/>
          <p:nvPr/>
        </p:nvSpPr>
        <p:spPr>
          <a:xfrm>
            <a:off x="365760" y="604889"/>
            <a:ext cx="3291840" cy="856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2600">
                <a:solidFill>
                  <a:srgbClr val="F8FAFC"/>
                </a:solidFill>
              </a:defRPr>
            </a:pPr>
            <a:r>
              <a:t>Ceramic</a:t>
            </a:r>
          </a:p>
          <a:p>
            <a:pPr>
              <a:defRPr b="1" sz="2600">
                <a:solidFill>
                  <a:srgbClr val="F8FAFC"/>
                </a:solidFill>
              </a:defRPr>
            </a:pPr>
            <a:r>
              <a:t>Jetavane TVC</a:t>
            </a:r>
          </a:p>
        </p:txBody>
      </p:sp>
      <p:sp>
        <p:nvSpPr>
          <p:cNvPr id="272" name="Text 4"/>
          <p:cNvSpPr txBox="1"/>
          <p:nvPr/>
        </p:nvSpPr>
        <p:spPr>
          <a:xfrm>
            <a:off x="365760" y="1600200"/>
            <a:ext cx="3291840" cy="105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CBD5E1"/>
                </a:solidFill>
              </a:defRPr>
            </a:lvl1pPr>
          </a:lstStyle>
          <a:p>
            <a:pPr/>
            <a:r>
              <a:t>Two Macor ceramic vanes sit in the nozzle exhaust stream on titanium shafts. Each vane rotates ±45° to simultaneously deflect the thrust vector and partially occlude the nozzle exit — providing both attitude control and analogue thrust modulation from a single actuator per axis.</a:t>
            </a:r>
          </a:p>
        </p:txBody>
      </p:sp>
      <p:sp>
        <p:nvSpPr>
          <p:cNvPr id="273" name="Text 5"/>
          <p:cNvSpPr txBox="1"/>
          <p:nvPr/>
        </p:nvSpPr>
        <p:spPr>
          <a:xfrm>
            <a:off x="365759" y="2749971"/>
            <a:ext cx="1463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Vane material</a:t>
            </a:r>
          </a:p>
        </p:txBody>
      </p:sp>
      <p:sp>
        <p:nvSpPr>
          <p:cNvPr id="274" name="Text 6"/>
          <p:cNvSpPr txBox="1"/>
          <p:nvPr/>
        </p:nvSpPr>
        <p:spPr>
          <a:xfrm>
            <a:off x="1965959" y="2738672"/>
            <a:ext cx="1691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Macor / ZTA ceramic</a:t>
            </a:r>
          </a:p>
        </p:txBody>
      </p:sp>
      <p:sp>
        <p:nvSpPr>
          <p:cNvPr id="275" name="Text 7"/>
          <p:cNvSpPr txBox="1"/>
          <p:nvPr/>
        </p:nvSpPr>
        <p:spPr>
          <a:xfrm>
            <a:off x="365759" y="3134019"/>
            <a:ext cx="1463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Vane rotation</a:t>
            </a:r>
          </a:p>
        </p:txBody>
      </p:sp>
      <p:sp>
        <p:nvSpPr>
          <p:cNvPr id="276" name="Text 8"/>
          <p:cNvSpPr txBox="1"/>
          <p:nvPr/>
        </p:nvSpPr>
        <p:spPr>
          <a:xfrm>
            <a:off x="1965959" y="3122720"/>
            <a:ext cx="1691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±45° per axis</a:t>
            </a:r>
          </a:p>
        </p:txBody>
      </p:sp>
      <p:sp>
        <p:nvSpPr>
          <p:cNvPr id="277" name="Text 9"/>
          <p:cNvSpPr txBox="1"/>
          <p:nvPr/>
        </p:nvSpPr>
        <p:spPr>
          <a:xfrm>
            <a:off x="365759" y="3518067"/>
            <a:ext cx="1463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Thrust range</a:t>
            </a:r>
          </a:p>
        </p:txBody>
      </p:sp>
      <p:sp>
        <p:nvSpPr>
          <p:cNvPr id="278" name="Text 10"/>
          <p:cNvSpPr txBox="1"/>
          <p:nvPr/>
        </p:nvSpPr>
        <p:spPr>
          <a:xfrm>
            <a:off x="1965959" y="3506768"/>
            <a:ext cx="1691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~35–100% of rated</a:t>
            </a:r>
          </a:p>
        </p:txBody>
      </p:sp>
      <p:sp>
        <p:nvSpPr>
          <p:cNvPr id="279" name="Text 11"/>
          <p:cNvSpPr txBox="1"/>
          <p:nvPr/>
        </p:nvSpPr>
        <p:spPr>
          <a:xfrm>
            <a:off x="365759" y="3902115"/>
            <a:ext cx="1463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Actuator</a:t>
            </a:r>
          </a:p>
        </p:txBody>
      </p:sp>
      <p:sp>
        <p:nvSpPr>
          <p:cNvPr id="280" name="Text 12"/>
          <p:cNvSpPr txBox="1"/>
          <p:nvPr/>
        </p:nvSpPr>
        <p:spPr>
          <a:xfrm>
            <a:off x="1965959" y="3890816"/>
            <a:ext cx="1691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KST X08 Plus HV</a:t>
            </a:r>
          </a:p>
        </p:txBody>
      </p:sp>
      <p:sp>
        <p:nvSpPr>
          <p:cNvPr id="281" name="Text 13"/>
          <p:cNvSpPr txBox="1"/>
          <p:nvPr/>
        </p:nvSpPr>
        <p:spPr>
          <a:xfrm>
            <a:off x="365759" y="4286163"/>
            <a:ext cx="1463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Axes</a:t>
            </a:r>
          </a:p>
        </p:txBody>
      </p:sp>
      <p:sp>
        <p:nvSpPr>
          <p:cNvPr id="282" name="Text 14"/>
          <p:cNvSpPr txBox="1"/>
          <p:nvPr/>
        </p:nvSpPr>
        <p:spPr>
          <a:xfrm>
            <a:off x="1965959" y="4274864"/>
            <a:ext cx="1691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Pitch + Yaw independent</a:t>
            </a:r>
          </a:p>
        </p:txBody>
      </p:sp>
      <p:sp>
        <p:nvSpPr>
          <p:cNvPr id="283" name="Text 15"/>
          <p:cNvSpPr txBox="1"/>
          <p:nvPr/>
        </p:nvSpPr>
        <p:spPr>
          <a:xfrm>
            <a:off x="365759" y="4670211"/>
            <a:ext cx="146304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Fail-safe</a:t>
            </a:r>
          </a:p>
        </p:txBody>
      </p:sp>
      <p:sp>
        <p:nvSpPr>
          <p:cNvPr id="284" name="Text 16"/>
          <p:cNvSpPr txBox="1"/>
          <p:nvPr/>
        </p:nvSpPr>
        <p:spPr>
          <a:xfrm>
            <a:off x="1965959" y="4658912"/>
            <a:ext cx="169164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000">
                <a:solidFill>
                  <a:srgbClr val="F8FAFC"/>
                </a:solidFill>
              </a:defRPr>
            </a:lvl1pPr>
          </a:lstStyle>
          <a:p>
            <a:pPr/>
            <a:r>
              <a:t>Spring return → full thrust</a:t>
            </a:r>
          </a:p>
        </p:txBody>
      </p:sp>
      <p:sp>
        <p:nvSpPr>
          <p:cNvPr id="285" name="Text 17"/>
          <p:cNvSpPr txBox="1"/>
          <p:nvPr/>
        </p:nvSpPr>
        <p:spPr>
          <a:xfrm>
            <a:off x="548639" y="276895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HOW IT WORKS</a:t>
            </a:r>
          </a:p>
        </p:txBody>
      </p:sp>
      <p:sp>
        <p:nvSpPr>
          <p:cNvPr id="286" name="Text 18"/>
          <p:cNvSpPr txBox="1"/>
          <p:nvPr/>
        </p:nvSpPr>
        <p:spPr>
          <a:xfrm>
            <a:off x="4114799" y="537544"/>
            <a:ext cx="466344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F8FAFC"/>
                </a:solidFill>
              </a:defRPr>
            </a:lvl1pPr>
          </a:lstStyle>
          <a:p>
            <a:pPr/>
            <a:r>
              <a:t>How jetavane TVC works</a:t>
            </a:r>
          </a:p>
        </p:txBody>
      </p:sp>
      <p:sp>
        <p:nvSpPr>
          <p:cNvPr id="287" name="Shape 19"/>
          <p:cNvSpPr/>
          <p:nvPr/>
        </p:nvSpPr>
        <p:spPr>
          <a:xfrm>
            <a:off x="3977640" y="1005839"/>
            <a:ext cx="4846321" cy="107899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8" name="Text 21"/>
          <p:cNvSpPr txBox="1"/>
          <p:nvPr/>
        </p:nvSpPr>
        <p:spPr>
          <a:xfrm>
            <a:off x="4142231" y="1176336"/>
            <a:ext cx="34747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59E0B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89" name="Text 22"/>
          <p:cNvSpPr txBox="1"/>
          <p:nvPr/>
        </p:nvSpPr>
        <p:spPr>
          <a:xfrm>
            <a:off x="4672584" y="1139874"/>
            <a:ext cx="3977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Vane at 0° — full thrust, neutral vector</a:t>
            </a:r>
          </a:p>
        </p:txBody>
      </p:sp>
      <p:sp>
        <p:nvSpPr>
          <p:cNvPr id="290" name="Text 23"/>
          <p:cNvSpPr txBox="1"/>
          <p:nvPr/>
        </p:nvSpPr>
        <p:spPr>
          <a:xfrm>
            <a:off x="4672584" y="1558842"/>
            <a:ext cx="39776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Vane aligned with flow. Minimal blockage. Motor delivers rated thrust. No deflection.</a:t>
            </a:r>
          </a:p>
        </p:txBody>
      </p:sp>
      <p:sp>
        <p:nvSpPr>
          <p:cNvPr id="291" name="Shape 24"/>
          <p:cNvSpPr/>
          <p:nvPr/>
        </p:nvSpPr>
        <p:spPr>
          <a:xfrm>
            <a:off x="3977640" y="2240279"/>
            <a:ext cx="4846321" cy="107899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2" name="Text 26"/>
          <p:cNvSpPr txBox="1"/>
          <p:nvPr/>
        </p:nvSpPr>
        <p:spPr>
          <a:xfrm>
            <a:off x="4142231" y="2410776"/>
            <a:ext cx="34747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59E0B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93" name="Text 27"/>
          <p:cNvSpPr txBox="1"/>
          <p:nvPr/>
        </p:nvSpPr>
        <p:spPr>
          <a:xfrm>
            <a:off x="4672584" y="2374314"/>
            <a:ext cx="397764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Vane rotated — vectored exhaust</a:t>
            </a:r>
          </a:p>
        </p:txBody>
      </p:sp>
      <p:sp>
        <p:nvSpPr>
          <p:cNvPr id="294" name="Text 28"/>
          <p:cNvSpPr txBox="1"/>
          <p:nvPr/>
        </p:nvSpPr>
        <p:spPr>
          <a:xfrm>
            <a:off x="4672584" y="2793282"/>
            <a:ext cx="39776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Rotation deflects exhaust stream up to ~20° from motor axis. Generates corrective torque on vehicle without moving the motor.</a:t>
            </a:r>
          </a:p>
        </p:txBody>
      </p:sp>
      <p:sp>
        <p:nvSpPr>
          <p:cNvPr id="295" name="Shape 29"/>
          <p:cNvSpPr/>
          <p:nvPr/>
        </p:nvSpPr>
        <p:spPr>
          <a:xfrm>
            <a:off x="3977640" y="3474720"/>
            <a:ext cx="4846321" cy="107899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6" name="Text 31"/>
          <p:cNvSpPr txBox="1"/>
          <p:nvPr/>
        </p:nvSpPr>
        <p:spPr>
          <a:xfrm>
            <a:off x="4142231" y="3645216"/>
            <a:ext cx="347473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F59E0B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97" name="Text 32"/>
          <p:cNvSpPr txBox="1"/>
          <p:nvPr/>
        </p:nvSpPr>
        <p:spPr>
          <a:xfrm>
            <a:off x="4672584" y="3608753"/>
            <a:ext cx="397764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Vane near 90° — thrust reduction</a:t>
            </a:r>
          </a:p>
        </p:txBody>
      </p:sp>
      <p:sp>
        <p:nvSpPr>
          <p:cNvPr id="298" name="Text 33"/>
          <p:cNvSpPr txBox="1"/>
          <p:nvPr/>
        </p:nvSpPr>
        <p:spPr>
          <a:xfrm>
            <a:off x="4672584" y="4027722"/>
            <a:ext cx="3977641" cy="393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Vane near-perpendicular to flow. Exit area partially blocked. Effective thrust reduced to ~35% for landing burn deceleration.</a:t>
            </a:r>
          </a:p>
        </p:txBody>
      </p:sp>
      <p:sp>
        <p:nvSpPr>
          <p:cNvPr id="299" name="Text 34"/>
          <p:cNvSpPr txBox="1"/>
          <p:nvPr/>
        </p:nvSpPr>
        <p:spPr>
          <a:xfrm>
            <a:off x="4023360" y="4645152"/>
            <a:ext cx="4754881" cy="485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Historical precedent: V-2 rocket (1942) and early surface-to-air systems used graphite jetavanes on identical principles. WYVERN applies this to a hobby-scale platform with ceramic materials and closed-loop digital control.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"/>
          <p:cNvSpPr txBox="1"/>
          <p:nvPr/>
        </p:nvSpPr>
        <p:spPr>
          <a:xfrm>
            <a:off x="548639" y="112303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PROGRAMME</a:t>
            </a:r>
          </a:p>
        </p:txBody>
      </p:sp>
      <p:sp>
        <p:nvSpPr>
          <p:cNvPr id="303" name="Text 2"/>
          <p:cNvSpPr txBox="1"/>
          <p:nvPr/>
        </p:nvSpPr>
        <p:spPr>
          <a:xfrm>
            <a:off x="548639" y="274944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Build &amp; Test Programme</a:t>
            </a:r>
          </a:p>
        </p:txBody>
      </p:sp>
      <p:sp>
        <p:nvSpPr>
          <p:cNvPr id="304" name="Shape 3"/>
          <p:cNvSpPr/>
          <p:nvPr/>
        </p:nvSpPr>
        <p:spPr>
          <a:xfrm>
            <a:off x="411479" y="914399"/>
            <a:ext cx="1581914" cy="374904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05" name="Shape 4"/>
          <p:cNvSpPr/>
          <p:nvPr/>
        </p:nvSpPr>
        <p:spPr>
          <a:xfrm>
            <a:off x="411479" y="914400"/>
            <a:ext cx="1581914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5"/>
          <p:cNvSpPr txBox="1"/>
          <p:nvPr/>
        </p:nvSpPr>
        <p:spPr>
          <a:xfrm>
            <a:off x="548639" y="1030899"/>
            <a:ext cx="13075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14B8A6"/>
                </a:solidFill>
              </a:defRPr>
            </a:lvl1pPr>
          </a:lstStyle>
          <a:p>
            <a:pPr/>
            <a:r>
              <a:t>Phase 1</a:t>
            </a:r>
          </a:p>
        </p:txBody>
      </p:sp>
      <p:sp>
        <p:nvSpPr>
          <p:cNvPr id="307" name="Text 6"/>
          <p:cNvSpPr txBox="1"/>
          <p:nvPr/>
        </p:nvSpPr>
        <p:spPr>
          <a:xfrm>
            <a:off x="548639" y="1313610"/>
            <a:ext cx="1307594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Design &amp; Fabrication</a:t>
            </a:r>
          </a:p>
        </p:txBody>
      </p:sp>
      <p:sp>
        <p:nvSpPr>
          <p:cNvPr id="308" name="Text 7"/>
          <p:cNvSpPr txBox="1"/>
          <p:nvPr/>
        </p:nvSpPr>
        <p:spPr>
          <a:xfrm>
            <a:off x="548639" y="1661835"/>
            <a:ext cx="1307594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Wks 1–3</a:t>
            </a:r>
          </a:p>
        </p:txBody>
      </p:sp>
      <p:sp>
        <p:nvSpPr>
          <p:cNvPr id="309" name="Shape 8"/>
          <p:cNvSpPr/>
          <p:nvPr/>
        </p:nvSpPr>
        <p:spPr>
          <a:xfrm>
            <a:off x="502919" y="1920239"/>
            <a:ext cx="1389889" cy="1"/>
          </a:xfrm>
          <a:prstGeom prst="line">
            <a:avLst/>
          </a:prstGeom>
          <a:ln w="508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10"/>
          <p:cNvSpPr txBox="1"/>
          <p:nvPr/>
        </p:nvSpPr>
        <p:spPr>
          <a:xfrm>
            <a:off x="713232" y="209490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OpenRocket model + stability verification</a:t>
            </a:r>
          </a:p>
        </p:txBody>
      </p:sp>
      <p:sp>
        <p:nvSpPr>
          <p:cNvPr id="311" name="Text 12"/>
          <p:cNvSpPr txBox="1"/>
          <p:nvPr/>
        </p:nvSpPr>
        <p:spPr>
          <a:xfrm>
            <a:off x="713232" y="2573694"/>
            <a:ext cx="1152145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PETG-CF parts CAD (nose, fin cans, TVC frame)</a:t>
            </a:r>
          </a:p>
        </p:txBody>
      </p:sp>
      <p:sp>
        <p:nvSpPr>
          <p:cNvPr id="312" name="Text 14"/>
          <p:cNvSpPr txBox="1"/>
          <p:nvPr/>
        </p:nvSpPr>
        <p:spPr>
          <a:xfrm>
            <a:off x="713232" y="319218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PCB design in EasyEDA — 62mm circular</a:t>
            </a:r>
          </a:p>
        </p:txBody>
      </p:sp>
      <p:sp>
        <p:nvSpPr>
          <p:cNvPr id="313" name="Shape 15"/>
          <p:cNvSpPr/>
          <p:nvPr/>
        </p:nvSpPr>
        <p:spPr>
          <a:xfrm>
            <a:off x="2130551" y="914399"/>
            <a:ext cx="1581913" cy="374904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14" name="Shape 16"/>
          <p:cNvSpPr/>
          <p:nvPr/>
        </p:nvSpPr>
        <p:spPr>
          <a:xfrm>
            <a:off x="2130551" y="914400"/>
            <a:ext cx="1581913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5" name="Text 17"/>
          <p:cNvSpPr txBox="1"/>
          <p:nvPr/>
        </p:nvSpPr>
        <p:spPr>
          <a:xfrm>
            <a:off x="2267712" y="1030899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F59E0B"/>
                </a:solidFill>
              </a:defRPr>
            </a:lvl1pPr>
          </a:lstStyle>
          <a:p>
            <a:pPr/>
            <a:r>
              <a:t>Phase 2</a:t>
            </a:r>
          </a:p>
        </p:txBody>
      </p:sp>
      <p:sp>
        <p:nvSpPr>
          <p:cNvPr id="316" name="Text 18"/>
          <p:cNvSpPr txBox="1"/>
          <p:nvPr/>
        </p:nvSpPr>
        <p:spPr>
          <a:xfrm>
            <a:off x="2267712" y="1313610"/>
            <a:ext cx="130759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Print &amp; Mechanical</a:t>
            </a:r>
          </a:p>
        </p:txBody>
      </p:sp>
      <p:sp>
        <p:nvSpPr>
          <p:cNvPr id="317" name="Text 19"/>
          <p:cNvSpPr txBox="1"/>
          <p:nvPr/>
        </p:nvSpPr>
        <p:spPr>
          <a:xfrm>
            <a:off x="2267712" y="1661835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Wks 3–5</a:t>
            </a:r>
          </a:p>
        </p:txBody>
      </p:sp>
      <p:sp>
        <p:nvSpPr>
          <p:cNvPr id="318" name="Shape 20"/>
          <p:cNvSpPr/>
          <p:nvPr/>
        </p:nvSpPr>
        <p:spPr>
          <a:xfrm>
            <a:off x="2221992" y="1920239"/>
            <a:ext cx="1389889" cy="1"/>
          </a:xfrm>
          <a:prstGeom prst="line">
            <a:avLst/>
          </a:prstGeom>
          <a:ln w="508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22"/>
          <p:cNvSpPr txBox="1"/>
          <p:nvPr/>
        </p:nvSpPr>
        <p:spPr>
          <a:xfrm>
            <a:off x="2432303" y="209490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Print all PETG-CF structural parts</a:t>
            </a:r>
          </a:p>
        </p:txBody>
      </p:sp>
      <p:sp>
        <p:nvSpPr>
          <p:cNvPr id="320" name="Text 24"/>
          <p:cNvSpPr txBox="1"/>
          <p:nvPr/>
        </p:nvSpPr>
        <p:spPr>
          <a:xfrm>
            <a:off x="2432303" y="2573694"/>
            <a:ext cx="1152145" cy="48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Jetavane shaft + ceramic vane assembly</a:t>
            </a:r>
          </a:p>
        </p:txBody>
      </p:sp>
      <p:sp>
        <p:nvSpPr>
          <p:cNvPr id="321" name="Text 26"/>
          <p:cNvSpPr txBox="1"/>
          <p:nvPr/>
        </p:nvSpPr>
        <p:spPr>
          <a:xfrm>
            <a:off x="2432303" y="319218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Booster ejection ring + spring test</a:t>
            </a:r>
          </a:p>
        </p:txBody>
      </p:sp>
      <p:sp>
        <p:nvSpPr>
          <p:cNvPr id="322" name="Shape 27"/>
          <p:cNvSpPr/>
          <p:nvPr/>
        </p:nvSpPr>
        <p:spPr>
          <a:xfrm>
            <a:off x="3849623" y="914399"/>
            <a:ext cx="1581913" cy="374904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23" name="Shape 28"/>
          <p:cNvSpPr/>
          <p:nvPr/>
        </p:nvSpPr>
        <p:spPr>
          <a:xfrm>
            <a:off x="3849623" y="914400"/>
            <a:ext cx="1581913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9"/>
          <p:cNvSpPr txBox="1"/>
          <p:nvPr/>
        </p:nvSpPr>
        <p:spPr>
          <a:xfrm>
            <a:off x="3986784" y="1030899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F97316"/>
                </a:solidFill>
              </a:defRPr>
            </a:lvl1pPr>
          </a:lstStyle>
          <a:p>
            <a:pPr/>
            <a:r>
              <a:t>Phase 3</a:t>
            </a:r>
          </a:p>
        </p:txBody>
      </p:sp>
      <p:sp>
        <p:nvSpPr>
          <p:cNvPr id="325" name="Text 30"/>
          <p:cNvSpPr txBox="1"/>
          <p:nvPr/>
        </p:nvSpPr>
        <p:spPr>
          <a:xfrm>
            <a:off x="3986784" y="1313610"/>
            <a:ext cx="130759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Electronics</a:t>
            </a:r>
          </a:p>
        </p:txBody>
      </p:sp>
      <p:sp>
        <p:nvSpPr>
          <p:cNvPr id="326" name="Text 31"/>
          <p:cNvSpPr txBox="1"/>
          <p:nvPr/>
        </p:nvSpPr>
        <p:spPr>
          <a:xfrm>
            <a:off x="3986784" y="1661835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Wks 5–7</a:t>
            </a:r>
          </a:p>
        </p:txBody>
      </p:sp>
      <p:sp>
        <p:nvSpPr>
          <p:cNvPr id="327" name="Shape 32"/>
          <p:cNvSpPr/>
          <p:nvPr/>
        </p:nvSpPr>
        <p:spPr>
          <a:xfrm>
            <a:off x="3941064" y="1920239"/>
            <a:ext cx="1389889" cy="1"/>
          </a:xfrm>
          <a:prstGeom prst="line">
            <a:avLst/>
          </a:prstGeom>
          <a:ln w="508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34"/>
          <p:cNvSpPr txBox="1"/>
          <p:nvPr/>
        </p:nvSpPr>
        <p:spPr>
          <a:xfrm>
            <a:off x="4151375" y="209490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Receive JLCPCB SMT boards</a:t>
            </a:r>
          </a:p>
        </p:txBody>
      </p:sp>
      <p:sp>
        <p:nvSpPr>
          <p:cNvPr id="329" name="Text 36"/>
          <p:cNvSpPr txBox="1"/>
          <p:nvPr/>
        </p:nvSpPr>
        <p:spPr>
          <a:xfrm>
            <a:off x="4151375" y="264354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Firmware flash + IMU/baro calibration</a:t>
            </a:r>
          </a:p>
        </p:txBody>
      </p:sp>
      <p:sp>
        <p:nvSpPr>
          <p:cNvPr id="330" name="Text 38"/>
          <p:cNvSpPr txBox="1"/>
          <p:nvPr/>
        </p:nvSpPr>
        <p:spPr>
          <a:xfrm>
            <a:off x="4151375" y="319218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Full 6-servo bench sweep test</a:t>
            </a:r>
          </a:p>
        </p:txBody>
      </p:sp>
      <p:sp>
        <p:nvSpPr>
          <p:cNvPr id="331" name="Shape 39"/>
          <p:cNvSpPr/>
          <p:nvPr/>
        </p:nvSpPr>
        <p:spPr>
          <a:xfrm>
            <a:off x="5568696" y="914399"/>
            <a:ext cx="1581913" cy="374904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32" name="Shape 40"/>
          <p:cNvSpPr/>
          <p:nvPr/>
        </p:nvSpPr>
        <p:spPr>
          <a:xfrm>
            <a:off x="5568696" y="914400"/>
            <a:ext cx="1581913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41"/>
          <p:cNvSpPr txBox="1"/>
          <p:nvPr/>
        </p:nvSpPr>
        <p:spPr>
          <a:xfrm>
            <a:off x="5705855" y="1030899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F59E0B"/>
                </a:solidFill>
              </a:defRPr>
            </a:lvl1pPr>
          </a:lstStyle>
          <a:p>
            <a:pPr/>
            <a:r>
              <a:t>Phase 4</a:t>
            </a:r>
          </a:p>
        </p:txBody>
      </p:sp>
      <p:sp>
        <p:nvSpPr>
          <p:cNvPr id="334" name="Text 42"/>
          <p:cNvSpPr txBox="1"/>
          <p:nvPr/>
        </p:nvSpPr>
        <p:spPr>
          <a:xfrm>
            <a:off x="5705855" y="1231060"/>
            <a:ext cx="1307593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Integration &amp; Ground Test</a:t>
            </a:r>
          </a:p>
        </p:txBody>
      </p:sp>
      <p:sp>
        <p:nvSpPr>
          <p:cNvPr id="335" name="Text 43"/>
          <p:cNvSpPr txBox="1"/>
          <p:nvPr/>
        </p:nvSpPr>
        <p:spPr>
          <a:xfrm>
            <a:off x="5705855" y="1661835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Wks 7–8</a:t>
            </a:r>
          </a:p>
        </p:txBody>
      </p:sp>
      <p:sp>
        <p:nvSpPr>
          <p:cNvPr id="336" name="Shape 44"/>
          <p:cNvSpPr/>
          <p:nvPr/>
        </p:nvSpPr>
        <p:spPr>
          <a:xfrm>
            <a:off x="5660135" y="1920239"/>
            <a:ext cx="1389889" cy="1"/>
          </a:xfrm>
          <a:prstGeom prst="line">
            <a:avLst/>
          </a:prstGeom>
          <a:ln w="508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46"/>
          <p:cNvSpPr txBox="1"/>
          <p:nvPr/>
        </p:nvSpPr>
        <p:spPr>
          <a:xfrm>
            <a:off x="5870448" y="209490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Ejection charge ground test</a:t>
            </a:r>
          </a:p>
        </p:txBody>
      </p:sp>
      <p:sp>
        <p:nvSpPr>
          <p:cNvPr id="338" name="Text 48"/>
          <p:cNvSpPr txBox="1"/>
          <p:nvPr/>
        </p:nvSpPr>
        <p:spPr>
          <a:xfrm>
            <a:off x="5870448" y="2713394"/>
            <a:ext cx="1152145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Jetavane static fire test</a:t>
            </a:r>
          </a:p>
        </p:txBody>
      </p:sp>
      <p:sp>
        <p:nvSpPr>
          <p:cNvPr id="339" name="Text 50"/>
          <p:cNvSpPr txBox="1"/>
          <p:nvPr/>
        </p:nvSpPr>
        <p:spPr>
          <a:xfrm>
            <a:off x="5870448" y="3192184"/>
            <a:ext cx="1152145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Full GCS datalink verification</a:t>
            </a:r>
          </a:p>
        </p:txBody>
      </p:sp>
      <p:sp>
        <p:nvSpPr>
          <p:cNvPr id="340" name="Shape 51"/>
          <p:cNvSpPr/>
          <p:nvPr/>
        </p:nvSpPr>
        <p:spPr>
          <a:xfrm>
            <a:off x="7287768" y="914399"/>
            <a:ext cx="1581913" cy="3749042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1" name="Shape 52"/>
          <p:cNvSpPr/>
          <p:nvPr/>
        </p:nvSpPr>
        <p:spPr>
          <a:xfrm>
            <a:off x="7287768" y="914400"/>
            <a:ext cx="1581913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Text 53"/>
          <p:cNvSpPr txBox="1"/>
          <p:nvPr/>
        </p:nvSpPr>
        <p:spPr>
          <a:xfrm>
            <a:off x="7424927" y="1030899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pc="100" sz="900">
                <a:solidFill>
                  <a:srgbClr val="10B981"/>
                </a:solidFill>
              </a:defRPr>
            </a:lvl1pPr>
          </a:lstStyle>
          <a:p>
            <a:pPr/>
            <a:r>
              <a:t>Phase 5</a:t>
            </a:r>
          </a:p>
        </p:txBody>
      </p:sp>
      <p:sp>
        <p:nvSpPr>
          <p:cNvPr id="343" name="Text 54"/>
          <p:cNvSpPr txBox="1"/>
          <p:nvPr/>
        </p:nvSpPr>
        <p:spPr>
          <a:xfrm>
            <a:off x="7424927" y="1313610"/>
            <a:ext cx="1307593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Flight Test Campaign</a:t>
            </a:r>
          </a:p>
        </p:txBody>
      </p:sp>
      <p:sp>
        <p:nvSpPr>
          <p:cNvPr id="344" name="Text 55"/>
          <p:cNvSpPr txBox="1"/>
          <p:nvPr/>
        </p:nvSpPr>
        <p:spPr>
          <a:xfrm>
            <a:off x="7424927" y="1661835"/>
            <a:ext cx="1307593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Wk 9+</a:t>
            </a:r>
          </a:p>
        </p:txBody>
      </p:sp>
      <p:sp>
        <p:nvSpPr>
          <p:cNvPr id="345" name="Shape 56"/>
          <p:cNvSpPr/>
          <p:nvPr/>
        </p:nvSpPr>
        <p:spPr>
          <a:xfrm>
            <a:off x="7379207" y="1920239"/>
            <a:ext cx="1389889" cy="1"/>
          </a:xfrm>
          <a:prstGeom prst="line">
            <a:avLst/>
          </a:prstGeom>
          <a:ln w="5080">
            <a:solidFill>
              <a:srgbClr val="FFFFFF">
                <a:alpha val="1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Text 58"/>
          <p:cNvSpPr txBox="1"/>
          <p:nvPr/>
        </p:nvSpPr>
        <p:spPr>
          <a:xfrm>
            <a:off x="7589520" y="2094904"/>
            <a:ext cx="1152144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Flight 1: booster only · recovery verify</a:t>
            </a:r>
          </a:p>
        </p:txBody>
      </p:sp>
      <p:sp>
        <p:nvSpPr>
          <p:cNvPr id="347" name="Text 60"/>
          <p:cNvSpPr txBox="1"/>
          <p:nvPr/>
        </p:nvSpPr>
        <p:spPr>
          <a:xfrm>
            <a:off x="7589520" y="2643544"/>
            <a:ext cx="1152144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Flight 2: two-stage · no landing burn</a:t>
            </a:r>
          </a:p>
        </p:txBody>
      </p:sp>
      <p:sp>
        <p:nvSpPr>
          <p:cNvPr id="348" name="Text 62"/>
          <p:cNvSpPr txBox="1"/>
          <p:nvPr/>
        </p:nvSpPr>
        <p:spPr>
          <a:xfrm>
            <a:off x="7589520" y="3192184"/>
            <a:ext cx="1152144" cy="3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Flight 3+: full profile · progressive altitude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hape 0"/>
          <p:cNvSpPr/>
          <p:nvPr/>
        </p:nvSpPr>
        <p:spPr>
          <a:xfrm>
            <a:off x="0" y="-1"/>
            <a:ext cx="9144000" cy="822962"/>
          </a:xfrm>
          <a:prstGeom prst="rect">
            <a:avLst/>
          </a:prstGeom>
          <a:solidFill>
            <a:srgbClr val="0B0F1A"/>
          </a:solidFill>
          <a:ln w="12700">
            <a:solidFill>
              <a:srgbClr val="0B0F1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"/>
          <p:cNvSpPr txBox="1"/>
          <p:nvPr/>
        </p:nvSpPr>
        <p:spPr>
          <a:xfrm>
            <a:off x="548639" y="112303"/>
            <a:ext cx="8138161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800">
                <a:solidFill>
                  <a:srgbClr val="F59E0B"/>
                </a:solidFill>
              </a:defRPr>
            </a:lvl1pPr>
          </a:lstStyle>
          <a:p>
            <a:pPr/>
            <a:r>
              <a:t>BUDGET</a:t>
            </a:r>
          </a:p>
        </p:txBody>
      </p:sp>
      <p:sp>
        <p:nvSpPr>
          <p:cNvPr id="352" name="Text 2"/>
          <p:cNvSpPr txBox="1"/>
          <p:nvPr/>
        </p:nvSpPr>
        <p:spPr>
          <a:xfrm>
            <a:off x="548639" y="274944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8FAFC"/>
                </a:solidFill>
              </a:defRPr>
            </a:lvl1pPr>
          </a:lstStyle>
          <a:p>
            <a:pPr/>
            <a:r>
              <a:t>Programme Budget Overview</a:t>
            </a:r>
          </a:p>
        </p:txBody>
      </p:sp>
      <p:sp>
        <p:nvSpPr>
          <p:cNvPr id="353" name="Text 3"/>
          <p:cNvSpPr txBox="1"/>
          <p:nvPr/>
        </p:nvSpPr>
        <p:spPr>
          <a:xfrm>
            <a:off x="457200" y="972780"/>
            <a:ext cx="2651761" cy="706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4800">
                <a:solidFill>
                  <a:srgbClr val="F59E0B"/>
                </a:solidFill>
              </a:defRPr>
            </a:lvl1pPr>
          </a:lstStyle>
          <a:p>
            <a:pPr/>
            <a:r>
              <a:t>~$660</a:t>
            </a:r>
          </a:p>
        </p:txBody>
      </p:sp>
      <p:sp>
        <p:nvSpPr>
          <p:cNvPr id="354" name="Text 4"/>
          <p:cNvSpPr txBox="1"/>
          <p:nvPr/>
        </p:nvSpPr>
        <p:spPr>
          <a:xfrm>
            <a:off x="457200" y="1705400"/>
            <a:ext cx="2651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estimated build cost — single vehicle</a:t>
            </a:r>
          </a:p>
        </p:txBody>
      </p:sp>
      <p:sp>
        <p:nvSpPr>
          <p:cNvPr id="355" name="Shape 5"/>
          <p:cNvSpPr/>
          <p:nvPr/>
        </p:nvSpPr>
        <p:spPr>
          <a:xfrm>
            <a:off x="4846320" y="960119"/>
            <a:ext cx="3886201" cy="1170434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6" name="Text 6"/>
          <p:cNvSpPr txBox="1"/>
          <p:nvPr/>
        </p:nvSpPr>
        <p:spPr>
          <a:xfrm>
            <a:off x="4983479" y="780956"/>
            <a:ext cx="914400" cy="1108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600">
                <a:solidFill>
                  <a:srgbClr val="F59E0B"/>
                </a:solidFill>
              </a:defRPr>
            </a:lvl1pPr>
          </a:lstStyle>
          <a:p>
            <a:pPr/>
            <a:r>
              <a:t>$145</a:t>
            </a:r>
          </a:p>
        </p:txBody>
      </p:sp>
      <p:sp>
        <p:nvSpPr>
          <p:cNvPr id="357" name="Text 7"/>
          <p:cNvSpPr txBox="1"/>
          <p:nvPr/>
        </p:nvSpPr>
        <p:spPr>
          <a:xfrm>
            <a:off x="6080760" y="1075866"/>
            <a:ext cx="2468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One-time PCB setup</a:t>
            </a:r>
          </a:p>
        </p:txBody>
      </p:sp>
      <p:sp>
        <p:nvSpPr>
          <p:cNvPr id="358" name="Text 8"/>
          <p:cNvSpPr txBox="1"/>
          <p:nvPr/>
        </p:nvSpPr>
        <p:spPr>
          <a:xfrm>
            <a:off x="6080760" y="1387515"/>
            <a:ext cx="24688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Subsequent builds ~$280 total</a:t>
            </a:r>
          </a:p>
        </p:txBody>
      </p:sp>
      <p:sp>
        <p:nvSpPr>
          <p:cNvPr id="359" name="Shape 9"/>
          <p:cNvSpPr/>
          <p:nvPr/>
        </p:nvSpPr>
        <p:spPr>
          <a:xfrm>
            <a:off x="4846320" y="2313432"/>
            <a:ext cx="3886201" cy="1170433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0" name="Text 10"/>
          <p:cNvSpPr txBox="1"/>
          <p:nvPr/>
        </p:nvSpPr>
        <p:spPr>
          <a:xfrm>
            <a:off x="4983479" y="2413668"/>
            <a:ext cx="914400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600">
                <a:solidFill>
                  <a:srgbClr val="F59E0B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1" name="Text 11"/>
          <p:cNvSpPr txBox="1"/>
          <p:nvPr/>
        </p:nvSpPr>
        <p:spPr>
          <a:xfrm>
            <a:off x="6080760" y="2429178"/>
            <a:ext cx="24688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Flights per motor set</a:t>
            </a:r>
          </a:p>
        </p:txBody>
      </p:sp>
      <p:sp>
        <p:nvSpPr>
          <p:cNvPr id="362" name="Text 12"/>
          <p:cNvSpPr txBox="1"/>
          <p:nvPr/>
        </p:nvSpPr>
        <p:spPr>
          <a:xfrm>
            <a:off x="6080760" y="2740827"/>
            <a:ext cx="24688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$124 recurring cost</a:t>
            </a:r>
          </a:p>
        </p:txBody>
      </p:sp>
      <p:sp>
        <p:nvSpPr>
          <p:cNvPr id="363" name="Shape 13"/>
          <p:cNvSpPr/>
          <p:nvPr/>
        </p:nvSpPr>
        <p:spPr>
          <a:xfrm>
            <a:off x="4846320" y="3666743"/>
            <a:ext cx="3886201" cy="1170434"/>
          </a:xfrm>
          <a:prstGeom prst="rect">
            <a:avLst/>
          </a:prstGeom>
          <a:solidFill>
            <a:srgbClr val="1A2235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4" name="Text 14"/>
          <p:cNvSpPr txBox="1"/>
          <p:nvPr/>
        </p:nvSpPr>
        <p:spPr>
          <a:xfrm>
            <a:off x="4983479" y="3766980"/>
            <a:ext cx="914400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600">
                <a:solidFill>
                  <a:srgbClr val="F59E0B"/>
                </a:solidFill>
              </a:defRPr>
            </a:lvl1pPr>
          </a:lstStyle>
          <a:p>
            <a:pPr/>
            <a:r>
              <a:t>wks</a:t>
            </a:r>
          </a:p>
        </p:txBody>
      </p:sp>
      <p:sp>
        <p:nvSpPr>
          <p:cNvPr id="365" name="Text 15"/>
          <p:cNvSpPr txBox="1"/>
          <p:nvPr/>
        </p:nvSpPr>
        <p:spPr>
          <a:xfrm>
            <a:off x="6080760" y="3782490"/>
            <a:ext cx="24688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8FAFC"/>
                </a:solidFill>
              </a:defRPr>
            </a:lvl1pPr>
          </a:lstStyle>
          <a:p>
            <a:pPr/>
            <a:r>
              <a:t>Months to first flight</a:t>
            </a:r>
          </a:p>
        </p:txBody>
      </p:sp>
      <p:sp>
        <p:nvSpPr>
          <p:cNvPr id="366" name="Text 16"/>
          <p:cNvSpPr txBox="1"/>
          <p:nvPr/>
        </p:nvSpPr>
        <p:spPr>
          <a:xfrm>
            <a:off x="6080760" y="4094139"/>
            <a:ext cx="2468881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/>
            <a:r>
              <a:t>5-phase structured programme</a:t>
            </a:r>
          </a:p>
        </p:txBody>
      </p:sp>
      <p:sp>
        <p:nvSpPr>
          <p:cNvPr id="367" name="Shape 17"/>
          <p:cNvSpPr/>
          <p:nvPr/>
        </p:nvSpPr>
        <p:spPr>
          <a:xfrm>
            <a:off x="4846320" y="4882896"/>
            <a:ext cx="3886201" cy="182881"/>
          </a:xfrm>
          <a:prstGeom prst="rect">
            <a:avLst/>
          </a:prstGeom>
          <a:solidFill>
            <a:srgbClr val="141B2B"/>
          </a:solidFill>
          <a:ln w="3810">
            <a:solidFill>
              <a:srgbClr val="FFFFFF">
                <a:alpha val="15000"/>
              </a:srgbClr>
            </a:solidFill>
          </a:ln>
          <a:effectLst>
            <a:outerShdw sx="100000" sy="100000" kx="0" ky="0" algn="b" rotWithShape="0" blurRad="101600" dist="38100" dir="8100000">
              <a:srgbClr val="000000">
                <a:alpha val="25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8" name="Text 18"/>
          <p:cNvSpPr txBox="1"/>
          <p:nvPr/>
        </p:nvSpPr>
        <p:spPr>
          <a:xfrm>
            <a:off x="4983479" y="4812827"/>
            <a:ext cx="3657601" cy="323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">
                <a:solidFill>
                  <a:srgbClr val="94A3B8"/>
                </a:solidFill>
              </a:defRPr>
            </a:lvl1pPr>
          </a:lstStyle>
          <a:p>
            <a:pPr/>
            <a:r>
              <a:t>All components sourced from commercial hobby and COTS electronics suppliers. No custom tooling required.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Shape 2"/>
          <p:cNvSpPr/>
          <p:nvPr/>
        </p:nvSpPr>
        <p:spPr>
          <a:xfrm>
            <a:off x="0" y="5033771"/>
            <a:ext cx="9144000" cy="109729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3"/>
          <p:cNvSpPr txBox="1"/>
          <p:nvPr/>
        </p:nvSpPr>
        <p:spPr>
          <a:xfrm>
            <a:off x="502919" y="382096"/>
            <a:ext cx="813816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94A3B8"/>
                </a:solidFill>
              </a:defRPr>
            </a:lvl1pPr>
          </a:lstStyle>
          <a:p>
            <a:pPr/>
            <a:r>
              <a:t>XRIM-117 WYVERN</a:t>
            </a:r>
          </a:p>
        </p:txBody>
      </p:sp>
      <p:sp>
        <p:nvSpPr>
          <p:cNvPr id="374" name="Text 4"/>
          <p:cNvSpPr txBox="1"/>
          <p:nvPr/>
        </p:nvSpPr>
        <p:spPr>
          <a:xfrm>
            <a:off x="502919" y="1965612"/>
            <a:ext cx="8138162" cy="54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600">
                <a:solidFill>
                  <a:srgbClr val="1A1A1A"/>
                </a:solidFill>
              </a:defRPr>
            </a:lvl1pPr>
          </a:lstStyle>
          <a:p>
            <a:pPr/>
            <a:r>
              <a:t>Let's talk.</a:t>
            </a:r>
          </a:p>
        </p:txBody>
      </p:sp>
      <p:sp>
        <p:nvSpPr>
          <p:cNvPr id="375" name="Text 5"/>
          <p:cNvSpPr txBox="1"/>
          <p:nvPr/>
        </p:nvSpPr>
        <p:spPr>
          <a:xfrm>
            <a:off x="502919" y="2595810"/>
            <a:ext cx="8138162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300">
                <a:solidFill>
                  <a:srgbClr val="2A2A2A"/>
                </a:solidFill>
              </a:defRPr>
            </a:lvl1pPr>
          </a:lstStyle>
          <a:p>
            <a:pPr/>
            <a:r>
              <a:t>Skylight Industries LLC  ·  PDR-002 Rev A</a:t>
            </a:r>
          </a:p>
        </p:txBody>
      </p:sp>
      <p:sp>
        <p:nvSpPr>
          <p:cNvPr id="376" name="Text 6"/>
          <p:cNvSpPr txBox="1"/>
          <p:nvPr/>
        </p:nvSpPr>
        <p:spPr>
          <a:xfrm>
            <a:off x="502919" y="3416616"/>
            <a:ext cx="813816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400">
                <a:solidFill>
                  <a:srgbClr val="CBD5E1"/>
                </a:solidFill>
              </a:defRPr>
            </a:lvl1pPr>
          </a:lstStyle>
          <a:p>
            <a:pPr/>
            <a:r>
              <a:t>XRIM-117 WYVERN Prototype Technology Demonstrator</a:t>
            </a:r>
          </a:p>
        </p:txBody>
      </p:sp>
      <p:sp>
        <p:nvSpPr>
          <p:cNvPr id="377" name="Text 7"/>
          <p:cNvSpPr txBox="1"/>
          <p:nvPr/>
        </p:nvSpPr>
        <p:spPr>
          <a:xfrm>
            <a:off x="502919" y="3817664"/>
            <a:ext cx="8138162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94A3B8"/>
                </a:solidFill>
              </a:defRPr>
            </a:lvl1pPr>
          </a:lstStyle>
          <a:p>
            <a:pPr/>
            <a:r>
              <a:t>Autonomous guided demonstrator platform · 70mm · active mid fins + passive aft stabilizers · ceramic jetavane TVC · 3-board distributed avionics</a:t>
            </a:r>
          </a:p>
        </p:txBody>
      </p:sp>
      <p:sp>
        <p:nvSpPr>
          <p:cNvPr id="378" name="Text 8"/>
          <p:cNvSpPr txBox="1"/>
          <p:nvPr/>
        </p:nvSpPr>
        <p:spPr>
          <a:xfrm>
            <a:off x="502919" y="4355119"/>
            <a:ext cx="8138162" cy="196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pc="200" sz="800">
                <a:solidFill>
                  <a:srgbClr val="94A3B8"/>
                </a:solidFill>
              </a:defRPr>
            </a:lvl1pPr>
          </a:lstStyle>
          <a:p>
            <a:pPr/>
            <a:r>
              <a:t>CONFIDENTIAL · FOR DISCUSSION PURPOSES ONLY · NOT FOR DISTRIBUTION</a:t>
            </a:r>
          </a:p>
        </p:txBody>
      </p:sp>
      <p:pic>
        <p:nvPicPr>
          <p:cNvPr id="37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1836" y="971636"/>
            <a:ext cx="594361" cy="5943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