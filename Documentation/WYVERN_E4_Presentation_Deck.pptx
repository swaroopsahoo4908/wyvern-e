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GTR70E WYVERN 4.0 is Skylight Rocketry's single-stage active-TVC sustainer -- a five-question research program spanning actuator design, materials, aerodynamics, wind-tunnel calibration, and control-gain sensitivity. This is the full technical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roadmap, twelve sections: research framework, architecture, materials, motor/stability, aerodynamics and the wind tunnel, trajectory, avionics and TVC control, the PID re-tune finding, sensitivity studies, recovery, validation gates, and ground test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research questions frame the whole program. RQ1 and RQ5 concern control; RQ2 concerns materials; RQ3 and RQ4 concern aerodynamics and the wind tunnel that validates it. Every question is checked by at least two of the three test tiers: simulation, ground test, and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goal statement and the three-tier testing framework: every research question is checked by at least two of simulation, ground test, and flight, so no single method has to be taken on faith.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up front. A single Raspberry Pi Pico 2 W is both flight computer and real-time controller, its two cores functionally partitioned. Recovery is fully passive via motor ejection.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is simpler than 3.0: single Pico 2W instead of a two-stage Pi-5 architecture, the A/B TVC comparison moved to the ground, and a thermally-zoned material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mass budget by section. Dry total 577g, motor 102g loaded, liftoff 679g.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stack diagram: CG sits well forward of the gimbal pivot at liftoff.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equations driving everything downstream: CG, pitch inertia, control arm, and T/W. Fins hold the pre-TVC boost; the control arm and gimbal authority take over from 0.5s onward.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RQ2. Two FDM materials, one variable: thermal exposure. PC-FR (flame-retardant polycarbonate) goes wherever motor plume or ejection gas heat lands; foamed ASA-Aero goes everywhere else, saving mass with no thermal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material split is validated: three-point bend for flexural stiffness, and a lumped-capacitance thermal model of the PC-FR motor-bay wall against the F15 burn, predicting a comfortable margin to the HDT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candidate motors run through the same RK4+Barrowman sim. The larger motors post much higher apogees, but this is a low-and-slow TVC demonstrator, not an altitude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hard gates: rail-exit velocity above 15 m/s so fins are authoritative, and peak T/W above 5 as a handling rule of thumb. F15-4 fails both -- deliberately, because the mission needs a long controllable burn, not rail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F15-4 thrust curve: 25.3N spike, settling to about 14N sustain over 3.45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TVC only engages 0.5s after ignition. Before that the vehicle must be passively stable, which is why fixed fins are mandatory even on an active-TVC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Ballast lowers apogee more than it saves in fin drag. Fins grown to 72mm hold 1.0 cal minimum stable margin with zero ballast, maximizing altitude.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resolved stability configuration table -- the final answer to the fin/ballast question, with apogee tradeoffs shown for the rejected ballasted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Drag buildup by component: skin friction, base drag, pressure/forebody drag, summing to the design Cd of 0.50 at these low subsonic speeds.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pressure and Reynolds number both peak at burnout, around 790 Pa and 1.7e5 -- low-Reynolds subsonic regime the whole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RK4 plus Barrowman drag buildup, unified sim used across the deck. Burnout at 3.45s, apogee 471ft at 7s, motor ejects 0.47s past apogee at a gentle descent.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descent velocity equation and Monte Carlo dispersion: 5 to 95 percent apogee band of 423 to 595 feet under plus-minus 5 percent mass and plus-minus 15 percent 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margin decays slightly through the burn as CG moves aft, but TVC engages at 0.5s and carries authority the rest of the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single-controller avionics architecture behind RQ5: dual-core partition on the Pico 2W keeps the 500Hz control loop free of I/O jitter, and a triad of IMUs measures true nozzle deflection via quaternion difference rather than an assumed commanded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stabilizes near-zero pre-maneuver, then tracks a commanded 4-degree setpoint cleanly. Gimbal deflection stays comfortably inside the plus-minus 8 degree mechanical limit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Restoring moment from the TVC gimbal stays a large multiple of the disturbance moment for the entire burn -- the controller never runs out of headroom, even as thrust tapers near burnout.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Servo torque requirement is about 0.9 kg-cm at the plus-minus 8 degree limit with a 2x safety factor, well below all three candidate micro servos evaluated.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Nominal 4-degree commanded step response: settles in about 150ms with a damping ratio of 0.65 -- crisp, well-damped tracking, using the re-tuned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finding of this review cycle: the well-damped-looking original gains were actually unstable once the 2ms digital control loop delay is modeled with a Pade approximant in series with the 40ms servo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gains fail classical margin checks at the worst-case operating point -- negative phase and gain margin, genuinely unstable. New gains, found by a margin-safe grid search, clear the 30 degree / 6 dB floor with room to spare.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Gains were swept on a grid of about 37,000 Kp Ki Kd triples, narrowed to margin-safe candidates, then re-ranked by gust rejection in the full nonlinear sim. Result: 4x slower rise time in exchange for real stability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gains, four atmospheres: ISA, cold, hot, and high density altitude. Gust-driven pitch deviation stays within about 1.1 to 1.4 degrees across all four -- the controller isn't tuned to a single day's weather.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Gimbal command also stays inside the mechanical limit across all four atmospheres, and fixed vs thrust-scheduled gains differ by less than 1 percent -- a simple fixed-gain PID is sufficient, no gain scheduling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flutter velocity margin is 14.7x over max flight speed. Aero heating is negligible at Mach 0.11 -- peak skin temp 15C against a material limit around 95-141C.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Servo torque holds a large margin through the burn. Static margin stays above the 0.5 cal absolute floor across a plus-minus 20mm build error in CG 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Rod-tilt and wind sweep grid: apogee barely changes with tilt, but landing drift grows sharply with wind -- drives the wind-hold call. Drag sensitivity keeps apogee well under the 1000ft ceiling across a wide Cd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independent deep-dive studies -- flutter, aeroheating, servo duty cycle, CG tolerance, dispersion, step response, drag sensitivity, battery life -- all pass. This is the breadth check behind the headline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First-order analytical structural margins. Minimum safety factor across the airframe is over 300x -- wall thickness is set by printability and handling, not flight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bay thermal soak peaks around 47C with a phenolic liner, well under PC-FR's 110C HDT. Recovery-side bulkhead handles the 140kPa ejection pressure with 8x safety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budget: 5.7W active draw, dominated by the two servos. 2S 450mAh pack gives 32 minutes of active endurance -- 5x margin over the 7 second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CO2, no pyro, no recovery electronics. The F15-4's own ejection charge fires through a sealed bypass tube past the flight computer bay into the recovery bay.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numbers: 12mm bypass tube drops only 0.06kPa during the ejection pulse. Bay pressurizes to 140kPa against a 14-41kPa release window, 3.4x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F15-4 over F15-6 or F15-8: its fixed ejection delay lands closest to apogee, giving the softest opening shock of the three off-the-shelf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Weathercock angle grows steeply with crosswind -- past a few m/s it exceeds the 30 degree design guideline, which is why launch is scrubbed above that speed rather than redesigning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Thirteen automated go/no-go gates against the flight sim. Ten pass outright. Three are flagged -- rail-exit velocity, peak T/W, and weathercock angle -- and we address those honestly on the next slide rather than hide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Closer look at two of the flagged gates: rail departure velocity and landing scatter from the Monte Carlo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flagged gates, in plain terms: low rail-exit speed means fins aren't fully authoritative until later in the boost, high peak T/W is a handling note not a failure, and the weathercock number drives a launch-day wind hold rather than a design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ground stands: a 3-axis TVC balance for the RQ1 servo vs solenoid comparison, and a static thrust plus jetvane materials stand carried over from 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explicit RQ1 protocol: commanded step and ramp inputs on the load balance, extracting bandwidth, slew rate, overshoot, steady-state error, and max deflection for each actuator class, under identical thrust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plan: 4 F15-4 for flight, 13 plugged F15-0 for ground stands, 6 E16-4 for stand commissioning and load-cell calibration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where the program stands: design is simulation-complete and validated, PID re-tune is the key fix from this cycle, and the remaining work is ground test -- actuator comparison, static ejection fire, and wind tunnel calibration -- before first flight and public data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2992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SKYLIGHT ROCKETRY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110939" y="952500"/>
            <a:ext cx="4647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 WE4-PDR-01 · 2026-07-09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4828356"/>
            <a:ext cx="180213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DESIGN REVIEW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318894"/>
            <a:ext cx="18021300" cy="1344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483"/>
              </a:lnSpc>
              <a:buNone/>
            </a:pPr>
            <a:r>
              <a:rPr lang="en-US" sz="10500" b="1" spc="-105" kern="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GTR70E WYVERN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952500" y="6835229"/>
            <a:ext cx="16187738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79"/>
              </a:lnSpc>
              <a:buNone/>
            </a:pPr>
            <a:r>
              <a:rPr lang="en-US" sz="2475" dirty="0">
                <a:solidFill>
                  <a:srgbClr val="514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Single-stage, 70 mm, finned active-TVC sustainer — closed-loop thrust-vector control on a dual-core Raspberry Pi Pico 2 W, powered by the Estes F15‑4.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952500" y="786765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Allison Hong · Chris Liu · Swaroop Sahoo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8505825"/>
            <a:ext cx="15716250" cy="1905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2500" y="8696325"/>
            <a:ext cx="28637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7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8991600"/>
            <a:ext cx="2863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F15‑4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75000" y="8696325"/>
            <a:ext cx="28638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7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LIFTOFF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75000" y="8991600"/>
            <a:ext cx="2863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705 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197575" y="8696325"/>
            <a:ext cx="28637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7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APOGEE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97575" y="8991600"/>
            <a:ext cx="2863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~429 ft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820076" y="8696325"/>
            <a:ext cx="28638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7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GIMBAL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0076" y="8991600"/>
            <a:ext cx="2863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±8°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42650" y="8696325"/>
            <a:ext cx="28638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7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Qs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42650" y="8991600"/>
            <a:ext cx="2863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065225" y="8696325"/>
            <a:ext cx="28638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7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65225" y="8991600"/>
            <a:ext cx="2863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10/13 pass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Index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900363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52500" y="2476500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847850" y="2476500"/>
            <a:ext cx="359509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Framework &amp; Goals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438525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52500" y="3014663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847850" y="3014663"/>
            <a:ext cx="435814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Architecture &amp; Mass Budget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3976687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2500" y="3552825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847850" y="3552825"/>
            <a:ext cx="49574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— Thermally-Zoned FDM (RQ2)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4514850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2500" y="4090987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847850" y="4090987"/>
            <a:ext cx="32414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Selection &amp; Stability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5053013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2500" y="4629150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847850" y="4629150"/>
            <a:ext cx="583302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Aerodynamics — Barrowman Model &amp; Flight Validation (RQ3)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5591175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52500" y="5167313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847850" y="5167313"/>
            <a:ext cx="311893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&amp; Performance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0" y="2900363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25000" y="2476500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VII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420350" y="2476500"/>
            <a:ext cx="41916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Avionics &amp; TVC Control (RQ1/RQ4)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525000" y="3438525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525000" y="3014663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VIII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0420350" y="3014663"/>
            <a:ext cx="154002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Re-Tune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25000" y="3976687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525000" y="3552825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0420350" y="3552825"/>
            <a:ext cx="44859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&amp; Deep-Dive Sensitivity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525000" y="4514850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525000" y="4090987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0420350" y="4090987"/>
            <a:ext cx="109954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25000" y="5053013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525000" y="4629150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0420350" y="4629150"/>
            <a:ext cx="371492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Validation Gates &amp; Risks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525000" y="5591175"/>
            <a:ext cx="78105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525000" y="5167313"/>
            <a:ext cx="7429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XII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0420350" y="5167313"/>
            <a:ext cx="318998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Test Plan &amp; Status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§03 · I. Research Framework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Research Questions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802806"/>
            <a:ext cx="16383000" cy="1093440"/>
          </a:xfrm>
          <a:prstGeom prst="roundRect">
            <a:avLst>
              <a:gd name="adj" fmla="val 1742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300283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2257425" y="3002831"/>
            <a:ext cx="1524590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Magnetic-solenoid vs. servo TVC actuation — bandwidth, slew rate, overshoot, steady-state error, and max gimbal angle, compared on one ground load balance.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4029596"/>
            <a:ext cx="16383000" cy="1093440"/>
          </a:xfrm>
          <a:prstGeom prst="roundRect">
            <a:avLst>
              <a:gd name="adj" fmla="val 1742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28725" y="422962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257425" y="4229621"/>
            <a:ext cx="1524590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performance of zone-specific FDM materials — PC-FR vs. ASA-Aero flexural stiffness, heat-deflection margin, and mass-specific structural performance.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5256386"/>
            <a:ext cx="16383000" cy="1093440"/>
          </a:xfrm>
          <a:prstGeom prst="roundRect">
            <a:avLst>
              <a:gd name="adj" fmla="val 1742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28725" y="545641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RQ3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257425" y="5456411"/>
            <a:ext cx="1524590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vs. in-situ passive stability — Barrowman CP/CN and coast-phase Cd, compared against the same quantities reconstructed from recovered flight telemetry. Replaces the two wind-tunnel questions retired in the 2026-08 scope change.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6483176"/>
            <a:ext cx="16383000" cy="1093440"/>
          </a:xfrm>
          <a:prstGeom prst="roundRect">
            <a:avLst>
              <a:gd name="adj" fmla="val 1742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28725" y="668320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RQ4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2257425" y="6683201"/>
            <a:ext cx="1524590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control gain sensitivity on a single-controller TVC architecture — peak pitch deviation, gimbal utilisation and settling across candidate gain sets, verified as PM/GM at 24 operating points then flown.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§04 · I. Research Framework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 &amp; Three-Tier Validation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2271713"/>
            <a:ext cx="1687449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fabricate, ground-test, and flight-validate a recoverable, FAA Class 1, 70 mm prototype that quantitatively answers all four research questions, each through two independent and mutually cross-validating methods.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509963"/>
            <a:ext cx="5257800" cy="582453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7775" y="3786188"/>
            <a:ext cx="513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 · SIMULATION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4195763"/>
            <a:ext cx="480726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RK4+Barrowman trajectory at dt=2e-4, Monte-Carlo dispersion over atmosphere AND build tolerance (mass, CG, Cd, impulse, thrust misalignment), linearized-plant margin analysis at 24 operating points, and a software-in-the-loop flight computer writing logs in the onboard recorder's schema.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15100" y="3509963"/>
            <a:ext cx="5257800" cy="582453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10375" y="3786188"/>
            <a:ext cx="513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 · GROUND 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0375" y="4195763"/>
            <a:ext cx="480726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3-axis TVC load balance (RQ1), static thrust + materials/jetvane stand (RQ2), and signal-level bench models of both stands including mount resonance and the full HX711 chain.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77700" y="3509963"/>
            <a:ext cx="5257800" cy="582453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372975" y="3786188"/>
            <a:ext cx="5133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 · FLIGHT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72975" y="4195763"/>
            <a:ext cx="480726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F15-4 flights under candidate gain sets (RQ4); telemetry-reconstructed static margin and coast-phase drag scored against the Barrowman prediction (RQ3).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§05 · II.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Overview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428875"/>
            <a:ext cx="8510136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Raspberry Pi Pico 2 W (RP2350) is both flight computer and real-time controller — its two Cortex-M33 cores are functionally partitioned: Core 0 runs the deterministic 500 Hz TVC loop exclusively, Core 1 handles µSD logging and Wi-Fi telemetry, isolating non-deterministic I/O from control.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52500" y="4710113"/>
            <a:ext cx="851013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TVC actuation methods (solenoid vs. servo) are compared on a ground 3-axis thrust-vector balance (RQ1); the vehicle itself flies the servo system.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6162675"/>
            <a:ext cx="851013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fully passive: the F15‑4's own ejection charge pops the nose through a sealed bypass tube — zero recovery electronics, zero pyro of our own.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824368" y="2428875"/>
            <a:ext cx="3660279" cy="1385888"/>
          </a:xfrm>
          <a:prstGeom prst="roundRect">
            <a:avLst>
              <a:gd name="adj" fmla="val 1375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81543" y="2686050"/>
            <a:ext cx="34605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LIFTOFF MASS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81543" y="3057525"/>
            <a:ext cx="346052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705 g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13675147" y="2428875"/>
            <a:ext cx="3660353" cy="1385888"/>
          </a:xfrm>
          <a:prstGeom prst="roundRect">
            <a:avLst>
              <a:gd name="adj" fmla="val 1375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932322" y="2686050"/>
            <a:ext cx="34606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T/W AVG / PEAK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32322" y="3057525"/>
            <a:ext cx="346060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 / 3.66</a:t>
            </a:r>
            <a:endParaRPr lang="en-US" sz="3450" dirty="0"/>
          </a:p>
        </p:txBody>
      </p:sp>
      <p:sp>
        <p:nvSpPr>
          <p:cNvPr id="14" name="Shape 12"/>
          <p:cNvSpPr/>
          <p:nvPr/>
        </p:nvSpPr>
        <p:spPr>
          <a:xfrm>
            <a:off x="9824368" y="4005262"/>
            <a:ext cx="3660279" cy="1385888"/>
          </a:xfrm>
          <a:prstGeom prst="roundRect">
            <a:avLst>
              <a:gd name="adj" fmla="val 1375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81543" y="4262438"/>
            <a:ext cx="34605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APOGEE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81543" y="4633913"/>
            <a:ext cx="346052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~429 ft</a:t>
            </a:r>
            <a:endParaRPr lang="en-US" sz="3450" dirty="0"/>
          </a:p>
        </p:txBody>
      </p:sp>
      <p:sp>
        <p:nvSpPr>
          <p:cNvPr id="17" name="Shape 15"/>
          <p:cNvSpPr/>
          <p:nvPr/>
        </p:nvSpPr>
        <p:spPr>
          <a:xfrm>
            <a:off x="13675147" y="4005262"/>
            <a:ext cx="3660353" cy="1385888"/>
          </a:xfrm>
          <a:prstGeom prst="roundRect">
            <a:avLst>
              <a:gd name="adj" fmla="val 1375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932322" y="4262438"/>
            <a:ext cx="34606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BURNOUT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32322" y="4633913"/>
            <a:ext cx="346060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 s</a:t>
            </a:r>
            <a:endParaRPr lang="en-US" sz="3450" dirty="0"/>
          </a:p>
        </p:txBody>
      </p:sp>
      <p:sp>
        <p:nvSpPr>
          <p:cNvPr id="20" name="Shape 18"/>
          <p:cNvSpPr/>
          <p:nvPr/>
        </p:nvSpPr>
        <p:spPr>
          <a:xfrm>
            <a:off x="9824368" y="5581650"/>
            <a:ext cx="3660279" cy="1385888"/>
          </a:xfrm>
          <a:prstGeom prst="roundRect">
            <a:avLst>
              <a:gd name="adj" fmla="val 1375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81543" y="5838825"/>
            <a:ext cx="34605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GIMBAL RANGE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81543" y="6210300"/>
            <a:ext cx="346052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±8°</a:t>
            </a:r>
            <a:endParaRPr lang="en-US" sz="3450" dirty="0"/>
          </a:p>
        </p:txBody>
      </p:sp>
      <p:sp>
        <p:nvSpPr>
          <p:cNvPr id="23" name="Shape 21"/>
          <p:cNvSpPr/>
          <p:nvPr/>
        </p:nvSpPr>
        <p:spPr>
          <a:xfrm>
            <a:off x="13675147" y="5581650"/>
            <a:ext cx="3660353" cy="1385888"/>
          </a:xfrm>
          <a:prstGeom prst="roundRect">
            <a:avLst>
              <a:gd name="adj" fmla="val 1375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932322" y="5838825"/>
            <a:ext cx="34606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932322" y="6210300"/>
            <a:ext cx="346060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m/s</a:t>
            </a:r>
            <a:endParaRPr lang="en-US" sz="3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 · II.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 — Simpler Than 3.0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3788569"/>
            <a:ext cx="16383000" cy="1252538"/>
          </a:xfrm>
          <a:prstGeom prst="roundRect">
            <a:avLst>
              <a:gd name="adj" fmla="val 1521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66825" y="4026694"/>
            <a:ext cx="39243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STAGE, SINGLE CONTROLLER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5381625" y="4026694"/>
            <a:ext cx="11988736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Pico 2 W is flight computer </a:t>
            </a:r>
            <a:pPr algn="l" indent="0" marL="0">
              <a:lnSpc>
                <a:spcPct val="130645"/>
              </a:lnSpc>
              <a:buNone/>
            </a:pPr>
            <a:r>
              <a:rPr lang="en-US" sz="2025" i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controller, its dual cores hard-partitioned between control and I/O — far lighter and lower power than the 3.0 two-stage Pi-5 vehicle.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231606"/>
            <a:ext cx="16383000" cy="1247775"/>
          </a:xfrm>
          <a:prstGeom prst="roundRect">
            <a:avLst>
              <a:gd name="adj" fmla="val 1527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6825" y="5469731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A/B TVC MOVED TO GROUND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5381625" y="5469731"/>
            <a:ext cx="119887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3-axis thrust-vector balance measures the thrust vector directly — repeatable, ground-based, and a better experiment than flying both systems. The vehicle flies servo-only.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6669881"/>
            <a:ext cx="16383000" cy="1247775"/>
          </a:xfrm>
          <a:prstGeom prst="roundRect">
            <a:avLst>
              <a:gd name="adj" fmla="val 1527"/>
            </a:avLst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66825" y="6908006"/>
            <a:ext cx="41910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THERMALLY-ZONED MATERIALS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381625" y="6908006"/>
            <a:ext cx="119887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PC-FR only where motor heat lands (nose bulkhead, engine/TVC bay, Bulkhead A); ASA-Aero everywhere else — saves ~130–150 g vs. an all-PC-FR baseline.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§07 · II.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Budget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352675"/>
            <a:ext cx="16383000" cy="561975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486025"/>
            <a:ext cx="5243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950" y="2486025"/>
            <a:ext cx="8056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13536" y="2486025"/>
            <a:ext cx="2431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914650"/>
            <a:ext cx="16383000" cy="533400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52500" y="3438525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43000" y="3028950"/>
            <a:ext cx="5243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Nose (ASA-Aero)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3950" y="3028950"/>
            <a:ext cx="8056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Ellipsoid nose cone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713536" y="3028950"/>
            <a:ext cx="2431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267200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3562350"/>
            <a:ext cx="524377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bay (ASA-Aero)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03950" y="3562350"/>
            <a:ext cx="8056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tube, chute+cord, Nomex, redundant BNO085, PC-FR bypass tube &amp; Bulkhead B, ejection plenum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713536" y="3562350"/>
            <a:ext cx="243138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4276725"/>
            <a:ext cx="16383000" cy="828675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52500" y="5095875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43000" y="4391025"/>
            <a:ext cx="524377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bay (ASA-Aero)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03950" y="4391025"/>
            <a:ext cx="8056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tube, Pico 2 W, body BNO085, BME688/BMP388, µSD, i3 4K camera, 2S LiPo + 5V UBEC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713536" y="4391025"/>
            <a:ext cx="243138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 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5924550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43000" y="5219700"/>
            <a:ext cx="524377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Engine/TVC bay (PC-FR)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03950" y="5219700"/>
            <a:ext cx="8056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tube, Bulkhead A, gimbal assy, 2 servos, gimbal-referenced BNO085, motor mount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13536" y="5219700"/>
            <a:ext cx="243138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268 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" y="5934075"/>
            <a:ext cx="16383000" cy="533400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2500" y="6457950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3000" y="6048375"/>
            <a:ext cx="5243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Fins + wiring (ASA-Aero)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03950" y="6048375"/>
            <a:ext cx="8056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fixed fins (72 mm span), internal wiring/connectors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713536" y="6048375"/>
            <a:ext cx="2431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g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6953250"/>
            <a:ext cx="16383000" cy="1905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143000" y="6581775"/>
            <a:ext cx="52437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 TOTAL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713536" y="6581775"/>
            <a:ext cx="24313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603 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2500" y="6972300"/>
            <a:ext cx="16383000" cy="542925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52500" y="7496175"/>
            <a:ext cx="16383000" cy="1905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43000" y="7086600"/>
            <a:ext cx="5243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03950" y="7086600"/>
            <a:ext cx="80562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Estes F15-4 loaded (60 g propellant)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713536" y="7086600"/>
            <a:ext cx="24313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7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g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52500" y="7515225"/>
            <a:ext cx="16383000" cy="500063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143000" y="7629525"/>
            <a:ext cx="524377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LIFTOFF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14713536" y="7629525"/>
            <a:ext cx="243138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705 g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§08 · II.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Architecture &amp; Mass Stack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4355306"/>
            <a:ext cx="13378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PC-FR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2340173" y="4345781"/>
            <a:ext cx="566003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Nose bulkhead, engine/TVC bay, Bulkhead A — motor heat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" y="5164931"/>
            <a:ext cx="15511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ASA-Aero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534096" y="5155406"/>
            <a:ext cx="546029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Nose, body tube, FC &amp; recovery, Bulkhead B, fins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6050756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552700" y="6041231"/>
            <a:ext cx="320496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49.1 cm from nose (liftoff)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6541294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2552700" y="6531769"/>
            <a:ext cx="39661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56.8 cm from nose (Barrowman)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7031831"/>
            <a:ext cx="15716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552700" y="7022306"/>
            <a:ext cx="313825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cm from nose (gimbal)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368754" y="4402410"/>
            <a:ext cx="8966746" cy="288228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79" y="4411935"/>
            <a:ext cx="8947696" cy="2863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§09 · II.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CG, Inertia &amp; Control Arm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3233738"/>
            <a:ext cx="16383000" cy="13620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85875" y="3509963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 OF GRAVITY / PITCH INERTIA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5875" y="3900488"/>
            <a:ext cx="172878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Σm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Σm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l" indent="0" marL="0">
              <a:buNone/>
            </a:pPr>
            <a:r>
              <a:rPr lang="en-US" sz="22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49.1 cm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(liftoff), moving to 47.4 cm through the burn · I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Σm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−x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)² + ¼mr² = </a:t>
            </a:r>
            <a:pPr algn="l" indent="0" marL="0">
              <a:buNone/>
            </a:pPr>
            <a:r>
              <a:rPr lang="en-US" sz="22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0.021 kg·m²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05363"/>
            <a:ext cx="16383000" cy="17287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85875" y="5081588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ARM (GIMBAL − CG)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5875" y="5472113"/>
            <a:ext cx="16187738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x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x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l" indent="0" marL="0">
              <a:buNone/>
            </a:pPr>
            <a:r>
              <a:rPr lang="en-US" sz="22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 cm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(liftoff), </a:t>
            </a:r>
            <a:pPr algn="l" indent="0" marL="0">
              <a:buNone/>
            </a:pPr>
            <a:r>
              <a:rPr lang="en-US" sz="22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 cm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(burnout). Fixed fins hold the first 0.5 s; the TVC control arm and gimbal authority carry stability for the rest of the burn.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6743700"/>
            <a:ext cx="16383000" cy="17287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5875" y="7019925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THRUST-TO-WEIGHT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5875" y="7410450"/>
            <a:ext cx="16187738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(T/W)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14.4 / (0.705×9.81) = </a:t>
            </a:r>
            <a:pPr algn="l" indent="0" marL="0">
              <a:buNone/>
            </a:pPr>
            <a:r>
              <a:rPr lang="en-US" sz="22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(T/W)</a:t>
            </a:r>
            <a:pPr algn="l" indent="0" marL="0">
              <a:buNone/>
            </a:pPr>
            <a:r>
              <a:rPr lang="en-US" sz="1875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25.3 / (0.705×9.81) = </a:t>
            </a:r>
            <a:pPr algn="l" indent="0" marL="0">
              <a:buNone/>
            </a:pPr>
            <a:r>
              <a:rPr lang="en-US" sz="22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3.66 </a:t>
            </a:r>
            <a:pPr algn="l" indent="0" marL="0">
              <a:buNone/>
            </a:pPr>
            <a:r>
              <a:rPr lang="en-US" sz="22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25.3 N ignition spike kicks the rocket off the rail, then settles to ~2.0 through the burn.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 · III. Materials (RQ2)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Thermally-Zoned Material Allocation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333625"/>
            <a:ext cx="16383000" cy="561975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466975"/>
            <a:ext cx="3209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28704" y="2466975"/>
            <a:ext cx="35683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63037" y="2466975"/>
            <a:ext cx="35683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HEAT-DEFLECTION 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97370" y="2466975"/>
            <a:ext cx="50044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ALLOCATED 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2895600"/>
            <a:ext cx="16383000" cy="933450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43000" y="3048000"/>
            <a:ext cx="320927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PC-FR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628704" y="3048000"/>
            <a:ext cx="35683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~1.25 g/cm³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463037" y="3048000"/>
            <a:ext cx="35683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~110°C, UL94-V0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297370" y="3048000"/>
            <a:ext cx="500448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Bulkheads, ejection bypass tube, engine/TVC bay, motor mount, gimbal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3981450"/>
            <a:ext cx="32092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ASA-Aero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628704" y="3981450"/>
            <a:ext cx="356836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~0.5–0.7 g/cm³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463037" y="3981450"/>
            <a:ext cx="356836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thermal load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297370" y="3981450"/>
            <a:ext cx="500448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Nose, body tube, fins, FC bay, recovery bay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52500" y="8134350"/>
            <a:ext cx="1687449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parameters (layer height, infill, wall count, temperatures, cooling) are held constant within each material to isolate material as the RQ2 independent variable. This all-ASA-except-where-necessary split cuts dry mass ~130–150 g (15–20%) vs. an all-PC-FR baseline (812 g liftoff, earlier iteration) — raising T/W and apogee directly.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§11 · III. Materials (RQ2)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Validation Plan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3007519"/>
            <a:ext cx="16383000" cy="17430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85875" y="3283744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FLEXURAL STIFFNESS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5875" y="3674269"/>
            <a:ext cx="1618773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Three-point bend loading on both materials, process parameters held constant, following the characterization framework of Dizon et al. (2018) — isolates flexural stiffness and mass-specific structural performance as the RQ2 comparison metrics.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4960144"/>
            <a:ext cx="16383000" cy="17526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85875" y="5236369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ENGINE-BAY THERMAL MARGIN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5875" y="5626894"/>
            <a:ext cx="1618773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First-order lumped-capacitance transient model of the PC-FR motor-bay wall (0.5 mm phenolic liner as inner thermal barrier) against the F15's 3.45 s burn predicts a peak wall temperature near </a:t>
            </a:r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47°C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well under the ~110°C PC-FR heat-deflection limit.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922294"/>
            <a:ext cx="16383000" cy="17526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5875" y="7198519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MARGIN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5875" y="7589044"/>
            <a:ext cx="1618773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First-order analytical margins on the airframe exceed a safety factor of </a:t>
            </a:r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300×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peak axial and TVC-induced bending loads — wall thickness is set by printability and handling, not flight loads (detailed in §11).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§12 · IV. Motor &amp;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Trade Study — Apogee by Option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candidates run through the unified RK4 + Barrowman sim, single- and two-stage.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657475"/>
            <a:ext cx="16383000" cy="75819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857500"/>
            <a:ext cx="15478125" cy="7181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§13 · IV. Motor &amp;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Trade Study — Gate Screening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F15‑4 is the only option that fails both the rail-exit and T/W gates — and the only one with a burn long enough for closed-loop TVC to matter.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81325"/>
            <a:ext cx="16383000" cy="650044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143250"/>
            <a:ext cx="16059150" cy="6176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§14 · IV. Motor &amp;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Decision: Estes F15‑4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3121149"/>
            <a:ext cx="9412263" cy="5406777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321174"/>
            <a:ext cx="9012213" cy="50067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898163" y="5210175"/>
            <a:ext cx="6437337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898163" y="481965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impulse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238190" y="4819650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49.6 N·s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898163" y="5781675"/>
            <a:ext cx="6437337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898163" y="5391150"/>
            <a:ext cx="25649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/ peak thrust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52390" y="539115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14.4 / 25.3 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898163" y="6353175"/>
            <a:ext cx="6437337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898163" y="5962650"/>
            <a:ext cx="1357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 time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512480" y="596265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 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898163" y="6534150"/>
            <a:ext cx="2112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Ejection delay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826680" y="6534150"/>
            <a:ext cx="1659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 (fixed)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§15 · IV. Motor &amp;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Fins Are Mandatory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4467895"/>
            <a:ext cx="9132391" cy="267042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667920"/>
            <a:ext cx="8732341" cy="22703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18291" y="3707606"/>
            <a:ext cx="6918725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TVC cannot be engaged instantaneously at ignition: servo and control-loop settling, combined with the high-amplitude ignition spike, would risk a destabilizing initial command. The vehicle must be passively stable through roughly the first 0.5 s.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618291" y="5898356"/>
            <a:ext cx="6918725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fixed fins (root chord 70 mm, tip chord 35 mm, 25° sweep, 72 mm span) hold the minimum conventionally-stable margin through this pre-TVC window — without them, the ignition transient alone can tumble the vehicle.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§16 · IV. Motor &amp;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Sizing Sweep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3126953"/>
            <a:ext cx="8827071" cy="535706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326978"/>
            <a:ext cx="8427021" cy="49570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12971" y="4279627"/>
            <a:ext cx="7233205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gram of nose ballast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apogee — dead weight costs more than the smaller fins it buys. Ballast is dropped entirely; fins grow to close the margin gap.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0312971" y="5689327"/>
            <a:ext cx="7022529" cy="1642021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570146" y="5908402"/>
            <a:ext cx="71589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CHOSEN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70146" y="6279877"/>
            <a:ext cx="6703425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fins, 72 mm span, ASA-Aero — margin </a:t>
            </a:r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+1.10 cal </a:t>
            </a:r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liftoff, </a:t>
            </a:r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 cal </a:t>
            </a:r>
            <a:pPr algn="l" indent="0" marL="0">
              <a:lnSpc>
                <a:spcPct val="13935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burnout, ballast </a:t>
            </a:r>
            <a:pPr algn="l" indent="0" marL="0">
              <a:lnSpc>
                <a:spcPct val="139355"/>
              </a:lnSpc>
              <a:buNone/>
            </a:pPr>
            <a:r>
              <a:rPr lang="en-US" sz="2025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§17 · IV. Motor &amp; Stability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Stability Configuration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352675"/>
            <a:ext cx="16383000" cy="561975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486025"/>
            <a:ext cx="3837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38750" y="2486025"/>
            <a:ext cx="3837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SPAN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34500" y="2486025"/>
            <a:ext cx="3837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30250" y="2486025"/>
            <a:ext cx="38376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APOGEE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2914650"/>
            <a:ext cx="16383000" cy="614363"/>
          </a:xfrm>
          <a:prstGeom prst="rect">
            <a:avLst/>
          </a:prstGeom>
          <a:solidFill>
            <a:srgbClr val="DCECD7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2500" y="3509963"/>
            <a:ext cx="16383000" cy="1905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43000" y="3067050"/>
            <a:ext cx="38376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g (chosen)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5238750" y="3067050"/>
            <a:ext cx="38376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mm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334500" y="3067050"/>
            <a:ext cx="38376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705 g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3430250" y="3067050"/>
            <a:ext cx="38376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~429 ft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4167188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43000" y="36814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g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5238750" y="36814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55.6 mm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334500" y="36814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765 g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430250" y="36814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~362 ft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52500" y="4176712"/>
            <a:ext cx="16383000" cy="638175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143000" y="43291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g (old)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5238750" y="43291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45.0 mm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334500" y="43291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855 g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30250" y="4329113"/>
            <a:ext cx="383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~273 ft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52500" y="8562975"/>
            <a:ext cx="168744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cal is the minimum conventionally-stable margin — enough to hold attitude through launch and the pre-TVC window while leaving the controller free to maneuver, and the lightest path to maximum apogee.</a:t>
            </a:r>
            <a:endParaRPr lang="en-US" sz="2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§18 · VI. Trajectory &amp;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Aerodynamic Drag Buildup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1877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Finned 70 mm tube, component drag buildup vs. Mach — skin friction, base drag, and pressure/forebody drag sum to the design Cd of 0.50.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000375"/>
            <a:ext cx="16383000" cy="71247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0400"/>
            <a:ext cx="15830550" cy="6724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§19 · VI. Trajectory &amp;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Pressure &amp; Reynolds Number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1877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½ρv² and Re both peak right at burnout — the whole flight sits in the low-Reynolds subsonic regime (Mach 0.107 peak) that the Barrowman method assumes, which is why the analytical model is credible here without a flow facility.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000375"/>
            <a:ext cx="16383000" cy="71532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0400"/>
            <a:ext cx="15849600" cy="67532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§20 · VI. Trajectory &amp;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Trajectory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3102099"/>
            <a:ext cx="9412263" cy="5406777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302124"/>
            <a:ext cx="9012213" cy="50067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898163" y="5219700"/>
            <a:ext cx="6437337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898163" y="4829175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Burnout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278100" y="4829175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 s · 72.8 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898163" y="5772150"/>
            <a:ext cx="6437337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898163" y="5381625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Apogee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278100" y="5381625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6.82 s · 429 ft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898163" y="6324600"/>
            <a:ext cx="6437337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898163" y="5934075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729445" y="5934075"/>
            <a:ext cx="28666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+0.63 s past apogee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898163" y="6486525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043645" y="6486525"/>
            <a:ext cx="36210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~6.2 m/s under 18″ chute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§21 · VI. Trajectory &amp;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Monte-Carlo Apogee Dispersion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3015704"/>
            <a:ext cx="9132391" cy="5536704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15729"/>
            <a:ext cx="8732341" cy="51366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18291" y="4843463"/>
            <a:ext cx="6918725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ct val="130435"/>
              </a:lnSpc>
              <a:buNone/>
            </a:pPr>
            <a:r>
              <a:rPr lang="en-US" sz="1875" baseline="-400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</a:t>
            </a:r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√(2mg / ρC</a:t>
            </a:r>
            <a:pPr algn="l" indent="0" marL="0">
              <a:lnSpc>
                <a:spcPct val="130435"/>
              </a:lnSpc>
              <a:buNone/>
            </a:pPr>
            <a:r>
              <a:rPr lang="en-US" sz="1875" baseline="-400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ct val="130435"/>
              </a:lnSpc>
              <a:buNone/>
            </a:pPr>
            <a:r>
              <a:rPr lang="en-US" sz="1875" baseline="-400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chute </a:t>
            </a:r>
            <a:pPr algn="l" indent="0" marL="0">
              <a:lnSpc>
                <a:spcPct val="130435"/>
              </a:lnSpc>
              <a:buNone/>
            </a:pPr>
            <a:r>
              <a:rPr lang="en-US" sz="22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≈ 6.2 m/s under an 18″ chute.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618291" y="5915025"/>
            <a:ext cx="691872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±5% mass, ±15% Cd → 5–95% band </a:t>
            </a:r>
            <a:pPr algn="l" indent="0" marL="0">
              <a:lnSpc>
                <a:spcPct val="129231"/>
              </a:lnSpc>
              <a:buNone/>
            </a:pPr>
            <a:r>
              <a:rPr lang="en-US" sz="2100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356–513 ft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mean 429 ft — comfortably inside the 1000 ft ceiling.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§22 · VI. Trajectory &amp; Performance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In-Flight Static Margin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1877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 moves aft as propellant burns, eroding margin through the boost — TVC engages at 0.5 s and carries authority the rest of the way.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000375"/>
            <a:ext cx="16383000" cy="9801746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0400"/>
            <a:ext cx="15982950" cy="94016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§23 · VII. Avionics (RQ1/RQ4)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Avionics: Dual-Core Partition &amp; IMU Triad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928491"/>
            <a:ext cx="16383000" cy="20716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66825" y="3185666"/>
            <a:ext cx="17329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PARTITION (RP2350, DUAL CORTEX-M33 @150 MHz)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6825" y="3576191"/>
            <a:ext cx="16226981" cy="1204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0 runs the 500 Hz TVC loop exclusively — reads IMUs, computes deflection, evaluates PID, commands servos — with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blocking operations permitted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Core 1 drains the logging ring buffer to µSD over SPI and services Wi-Fi telemetry, isolating non-deterministic I/O latency from the control path.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171629"/>
            <a:ext cx="16383000" cy="16764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6825" y="5428804"/>
            <a:ext cx="17329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 BNO085 IMU TRIAD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5819329"/>
            <a:ext cx="162269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gimbal-referenced, one body-referenced (FC bay), one redundant (recovery bay, 2-of-3 fault voting) — each in Game Rotation Vector mode with the magnetometer disabled, since the adjacent gimbal servos' magnetic field would otherwise corrupt a heading estimate.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7019479"/>
            <a:ext cx="16383000" cy="163919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66825" y="7276654"/>
            <a:ext cx="17329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 NOZZLE DEFLECTION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6825" y="7667179"/>
            <a:ext cx="16226981" cy="772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750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 </a:t>
            </a:r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inverse(q</a:t>
            </a:r>
            <a:pPr algn="l" indent="0" marL="0">
              <a:buNone/>
            </a:pPr>
            <a:r>
              <a:rPr lang="en-US" sz="1750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× q</a:t>
            </a:r>
            <a:pPr algn="l" indent="0" marL="0">
              <a:buNone/>
            </a:pPr>
            <a:r>
              <a:rPr lang="en-US" sz="1750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gimbal </a:t>
            </a:r>
            <a:pPr algn="l" indent="0" marL="0">
              <a:buNone/>
            </a:pPr>
            <a:r>
              <a:rPr lang="en-US" sz="21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computed every control cycle — captures true mechanical nozzle attitude, including linkage backlash or structural flex, rather than an assumed commanded angle.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§24 · VII. Avionics (RQ1/RQ4)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TVC Pitch Control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18773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through the ignition transient, then track a commanded 4° maneuver. Gimbal output is clipped to a ±8° limit — raised from ±5° to give control-authority margin against crosswind weathercocking without adding passive fin stability, which would blunt the very disturbance TVC is built to demonstrate.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324225"/>
            <a:ext cx="16383000" cy="68199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524250"/>
            <a:ext cx="15935325" cy="64198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§25 · VII. Avionics (RQ1/RQ4)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TVC Control Authority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3102099"/>
            <a:ext cx="9412263" cy="5406777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302124"/>
            <a:ext cx="9012213" cy="5006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98163" y="4702969"/>
            <a:ext cx="7081071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A8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39.6×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0898163" y="5707856"/>
            <a:ext cx="663045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required maneuver moment, airspeed-independent. Margin holds from ignition through burnout, collapsing only as thrust → 0.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§26 · VII. Avionics (RQ1/RQ4)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Sizing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72878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Gimbal torque requirement (~0.56 kg·cm at ±8°, ×2 SF) against three candidate micro servos — all clear with margin.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657475"/>
            <a:ext cx="16383000" cy="9390459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857500"/>
            <a:ext cx="15982950" cy="899040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§27 · VII. Avionics (RQ1/RQ4)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TVC Step Response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72878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response to a commanded 4° pitch step — settle time ~151 ms at ζ=0.65, using the re-tuned gains.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657475"/>
            <a:ext cx="16383000" cy="9801746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857500"/>
            <a:ext cx="15982950" cy="94016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§28 · VIII. PID Re-Tune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Re-Tune: The Problem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3776662"/>
            <a:ext cx="16678275" cy="1290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pitch/yaw TVC loop was already tuned once against a nonlinear time-domain sim — genuine physics, but with </a:t>
            </a:r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of the digital control loop's computational/actuation delay </a:t>
            </a:r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 a 500 Hz (2 ms period) loop, the commanded output lags its sample by roughly one tick.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5238750"/>
            <a:ext cx="16383000" cy="15716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7775" y="5495925"/>
            <a:ext cx="173716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LINEARIZED PLANT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5886450"/>
            <a:ext cx="1626622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θ(s)/δ(s) = b / (I·s² + c·s + k), open loop = PID(s)·servo_lag(s)·loop_delay(s)·plant(s), with the 2 ms loop delay modeled as a 2nd-order Padé approximant in series with the 40 ms servo lag.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52500" y="7019925"/>
            <a:ext cx="1667827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operating points were extracted: 4 flight atmospheres × 6 burn-time slices, spanning low-q/high-thrust early burn to high-q/low-thrust tail-out.</a:t>
            </a:r>
            <a:endParaRPr lang="en-US" sz="21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§29 · VIII. PID Re-Tune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Re-Tune: The Fix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195513"/>
            <a:ext cx="8020050" cy="1062038"/>
          </a:xfrm>
          <a:prstGeom prst="rect">
            <a:avLst/>
          </a:prstGeom>
          <a:solidFill>
            <a:srgbClr val="F3DDD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500" y="2195513"/>
            <a:ext cx="57150" cy="1062038"/>
          </a:xfrm>
          <a:prstGeom prst="rect">
            <a:avLst/>
          </a:prstGeom>
          <a:solidFill>
            <a:srgbClr val="A8402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57300" y="2386013"/>
            <a:ext cx="821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· Kp2.0/Ki0.4/Kd0.5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2757488"/>
            <a:ext cx="82143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−6.5° · GM −2.1 dB — unstable once loop delay is modeled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195513"/>
            <a:ext cx="8020050" cy="1062038"/>
          </a:xfrm>
          <a:prstGeom prst="rect">
            <a:avLst/>
          </a:prstGeom>
          <a:solidFill>
            <a:srgbClr val="DCECD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315450" y="2195513"/>
            <a:ext cx="57150" cy="1062038"/>
          </a:xfrm>
          <a:prstGeom prst="rect">
            <a:avLst/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20250" y="2386013"/>
            <a:ext cx="821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· Kp0.10/Ki0.40/Kd0.18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20250" y="2757488"/>
            <a:ext cx="821436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+32.8° · GM +9.2 dB — clears the 30°/6 dB flight-control floor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3448050"/>
            <a:ext cx="16383000" cy="12323266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609975"/>
            <a:ext cx="16059150" cy="119994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§30 · VIII. PID Re-Tune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Search Method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4421981"/>
            <a:ext cx="609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3550" y="4421981"/>
            <a:ext cx="171621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search: ~37,000 (Kp,Ki,Kd) triples, coarse P/PI/PID scan down to a fine local grid.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52500" y="4926806"/>
            <a:ext cx="609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3550" y="4926806"/>
            <a:ext cx="171621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triples whose worst-case margin across all 24 operating points clears PM≥30°, GM≥6 dB.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52500" y="5431631"/>
            <a:ext cx="609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3550" y="5431631"/>
            <a:ext cx="171621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margin-safe survivors in the full nonlinear time-domain sim; rank by worst-case gust-rejection pitch deviation.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52500" y="5936456"/>
            <a:ext cx="609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3550" y="5936456"/>
            <a:ext cx="171621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 candidates showing gimbal chatter (&gt;4 sign changes during steady flight) — a proxy for a borderline oscillatory mode.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52500" y="6536531"/>
            <a:ext cx="168744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rise time ~4× longer (273→1037 ms), overshoot 11.9%→3.4%, gimbal-rate zero-crossings 12→2 — deliberately slower, genuinely stable.</a:t>
            </a:r>
            <a:endParaRPr lang="en-US" sz="20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§31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Across Atmospheres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1877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gains, four flight atmospheres (ISA, Cold −15°C, Hot +40°C, High-DA 1500 m) — gust-driven pitch deviation stays within 1.1–1.4°.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000375"/>
            <a:ext cx="16383000" cy="83915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0400"/>
            <a:ext cx="15982950" cy="79914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§32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Scheduling: Not Needed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195513"/>
            <a:ext cx="16383000" cy="83534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4425" y="2357438"/>
            <a:ext cx="16059150" cy="80295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" y="10720388"/>
            <a:ext cx="16383000" cy="817498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14425" y="10882313"/>
            <a:ext cx="16059150" cy="78511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§33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Deep-Dive: Flutter &amp; Aero-Heating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195513"/>
            <a:ext cx="8048625" cy="71389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36306" b="-36306"/>
          <a:stretch/>
        </p:blipFill>
        <p:spPr>
          <a:xfrm>
            <a:off x="1114425" y="2357438"/>
            <a:ext cx="7724775" cy="68151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86875" y="2195513"/>
            <a:ext cx="8048625" cy="71389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36306" b="-36306"/>
          <a:stretch/>
        </p:blipFill>
        <p:spPr>
          <a:xfrm>
            <a:off x="9448800" y="2357438"/>
            <a:ext cx="7724775" cy="681513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§34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Deep-Dive: Servo Duty &amp; CG Tolerance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195513"/>
            <a:ext cx="8048625" cy="71389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70306" b="-70306"/>
          <a:stretch/>
        </p:blipFill>
        <p:spPr>
          <a:xfrm>
            <a:off x="1114425" y="2357438"/>
            <a:ext cx="7724775" cy="68151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86875" y="2195513"/>
            <a:ext cx="8048625" cy="713898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-40230" b="-40230"/>
          <a:stretch/>
        </p:blipFill>
        <p:spPr>
          <a:xfrm>
            <a:off x="9448800" y="2357438"/>
            <a:ext cx="7724775" cy="68151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§35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Deep-Dive: Dispersion Grid &amp; Drag Sensitivity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195513"/>
            <a:ext cx="16383000" cy="647982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4425" y="2357438"/>
            <a:ext cx="16059150" cy="61559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" y="8846790"/>
            <a:ext cx="16383000" cy="817498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14425" y="9008715"/>
            <a:ext cx="16059150" cy="78511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§36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Sensitivity — Summary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2062163"/>
            <a:ext cx="161877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independent studies — flutter, aero-heating, servo duty, CG tolerance, dispersion, step response, drag sensitivity, battery life. </a:t>
            </a:r>
            <a:pPr algn="l" indent="0" marL="0">
              <a:buNone/>
            </a:pPr>
            <a:r>
              <a:rPr lang="en-US" sz="2100" b="1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eight pass.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19413"/>
            <a:ext cx="16383000" cy="83915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19438"/>
            <a:ext cx="15982950" cy="79914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§37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Margins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954834"/>
            <a:ext cx="9412263" cy="5701308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54859"/>
            <a:ext cx="9012213" cy="5301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98163" y="4550569"/>
            <a:ext cx="6630457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F/(πDt) — tube axial SF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~400×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Bending, gimbal pivot, and Bulkhead A all clear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&gt;50×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minimum across the structure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~340×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0898163" y="5893594"/>
            <a:ext cx="6630457" cy="1204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25 N motor on a 70 mm tube is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handling/print-limited, not load-limited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wall thickness is set by printability, not flight loads.</a:t>
            </a:r>
            <a:endParaRPr lang="en-US" sz="20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§38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&amp; Ejection-Pressure Margins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3027611"/>
            <a:ext cx="9132391" cy="5536704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27636"/>
            <a:ext cx="8732341" cy="51366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18291" y="4519613"/>
            <a:ext cx="6918725" cy="78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Engine-bay wall peaks </a:t>
            </a:r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~47°C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phenolic liner — well under PC-FR's ~110°C HDT.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618291" y="5419725"/>
            <a:ext cx="69187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bulkhead: F = pπr² = </a:t>
            </a:r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491 N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thrust at 140 kPa ejection pressure; plate bending SF vs. PC-FR ≈ </a:t>
            </a:r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8.2×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618291" y="6324600"/>
            <a:ext cx="6918725" cy="78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tube hoop stress SF ≈ </a:t>
            </a:r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107×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wall set by print robustness, not stress.</a:t>
            </a:r>
            <a:endParaRPr lang="en-US" sz="1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§39 · IX. Sensitivity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Budget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72878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2S 450 mAh pack, 5.35 W active draw dominated by the two servos — 34 minutes of endurance vs. a 7 second flight.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638425"/>
            <a:ext cx="16383000" cy="9801746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838450"/>
            <a:ext cx="15982950" cy="94016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§40 · X. Recovery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Recovery: Motor-Ejection Architecture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4260056"/>
            <a:ext cx="16874490" cy="1290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CO2 system, no solenoids, no recovery battery, no pyro of our own — the flight computer only logs. Ejection gas from the F15‑4 is routed through a </a:t>
            </a:r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solid-walled bypass tube </a:t>
            </a:r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passes the sealed FC bay and vents into the recovery bay, popping the friction-fit nose + chute. Deploy fires at t≈7.45 s, </a:t>
            </a:r>
            <a:pPr algn="l" indent="0" marL="0">
              <a:lnSpc>
                <a:spcPct val="129851"/>
              </a:lnSpc>
              <a:buNone/>
            </a:pPr>
            <a:r>
              <a:rPr lang="en-US" sz="217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+0.63 s past apogee</a:t>
            </a:r>
            <a:pPr algn="l" indent="0" marL="0">
              <a:lnSpc>
                <a:spcPct val="129851"/>
              </a:lnSpc>
              <a:buNone/>
            </a:pPr>
            <a:r>
              <a:rPr lang="en-US" sz="21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5722144"/>
            <a:ext cx="16383000" cy="17621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47775" y="5979319"/>
            <a:ext cx="173716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 PATH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6369844"/>
            <a:ext cx="1626622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7895"/>
              </a:lnSpc>
              <a:buNone/>
            </a:pPr>
            <a:r>
              <a:rPr lang="en-US" sz="1875" dirty="0">
                <a:solidFill>
                  <a:srgbClr val="2B2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 aft closure → ejection gas → bypass tube (past sealed FC bay) → recovery bay → friction-fit nose release → chute</a:t>
            </a:r>
            <a:endParaRPr lang="en-US" sz="18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§41 · X. Recovery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Feasibility Numbers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4364831"/>
            <a:ext cx="16383000" cy="7477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4591050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 TUBE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43425" y="4583906"/>
            <a:ext cx="137674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mm ID, ~160 mm long — drops only 0.06 kPa during the ~0.1 s ejection pulse.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52500" y="5283994"/>
            <a:ext cx="16383000" cy="10572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28725" y="5664994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BAY PRESSURE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43425" y="5503069"/>
            <a:ext cx="1289132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 charge delivers ~140 kPa into the sealed recovery bay against a 14–41 kPa friction-fit release window — </a:t>
            </a:r>
            <a:pPr algn="l" indent="0" marL="0">
              <a:buNone/>
            </a:pPr>
            <a:r>
              <a:rPr lang="en-US" sz="1875" b="1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 margin </a:t>
            </a:r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52500" y="6512719"/>
            <a:ext cx="16383000" cy="7477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28725" y="6738938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DYNAMICS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3425" y="6731794"/>
            <a:ext cx="137674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~6.3 m/s at ejection, ~11 N opening on the 18″ chute — trivial for the 1/8″ Kevlar cord (&gt;100× SF).</a:t>
            </a:r>
            <a:endParaRPr lang="en-US" sz="187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§42 · X. Recovery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Ejection-Delay Motor Selection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996654"/>
            <a:ext cx="9132391" cy="5536704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96679"/>
            <a:ext cx="8732341" cy="51366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18291" y="4745831"/>
            <a:ext cx="6717209" cy="485775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751641" y="4841081"/>
            <a:ext cx="2048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90686" y="4841081"/>
            <a:ext cx="2048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APOGEE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229731" y="4841081"/>
            <a:ext cx="20486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V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618291" y="5231606"/>
            <a:ext cx="6717209" cy="495300"/>
          </a:xfrm>
          <a:prstGeom prst="rect">
            <a:avLst/>
          </a:prstGeom>
          <a:solidFill>
            <a:srgbClr val="DCECD7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618291" y="5717381"/>
            <a:ext cx="6717209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751641" y="5345906"/>
            <a:ext cx="20485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F15-4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990686" y="5345906"/>
            <a:ext cx="20485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+0.64 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229731" y="5345906"/>
            <a:ext cx="204861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~6.3 m/s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618291" y="6250781"/>
            <a:ext cx="6717209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751641" y="5841206"/>
            <a:ext cx="2048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F15-6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990686" y="5841206"/>
            <a:ext cx="2048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+2.64 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229731" y="5841206"/>
            <a:ext cx="20486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~24.8 m/s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618291" y="6260306"/>
            <a:ext cx="6717209" cy="523875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751641" y="6374606"/>
            <a:ext cx="2048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F15-8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990686" y="6374606"/>
            <a:ext cx="2048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+4.64 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229731" y="6374606"/>
            <a:ext cx="20486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~40.2 m/s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§43 · X. Recovery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Weathercock vs. Wind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24075"/>
            <a:ext cx="161877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 rail-exit speed (6.1 m/s) means the finned-but-uncontrolled early boost is wind-sensitive — weathercock crosses the 30° guideline near 3–4 m/s crosswind.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2981325"/>
            <a:ext cx="16383000" cy="74199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81350"/>
            <a:ext cx="15849600" cy="70199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§44 · XI. Validation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Validation Gates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181225"/>
            <a:ext cx="30552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 gates pass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111005" y="2181225"/>
            <a:ext cx="33947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flagged for review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52500" y="2686050"/>
            <a:ext cx="16383000" cy="664845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75566"/>
          <a:stretch/>
        </p:blipFill>
        <p:spPr>
          <a:xfrm>
            <a:off x="1152525" y="2886075"/>
            <a:ext cx="1598295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§45 · XI. Validation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Detail: Rail Departure &amp; Landing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2195513"/>
            <a:ext cx="8048625" cy="80486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-50000" b="-50000"/>
          <a:stretch/>
        </p:blipFill>
        <p:spPr>
          <a:xfrm>
            <a:off x="1114425" y="2357438"/>
            <a:ext cx="7724775" cy="77247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86875" y="2195513"/>
            <a:ext cx="8048625" cy="804862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48800" y="2357438"/>
            <a:ext cx="7724775" cy="77247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§46 · XI. Validation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 &amp; Mitigations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4241006"/>
            <a:ext cx="16383000" cy="10572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28725" y="4622006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RAIL-EXIT VELOCITY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43425" y="4460081"/>
            <a:ext cx="1289132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 m/s vs. 15 m/s rule-of-thumb floor — fins aren't fully authoritative off the rail; mitigated with a longer 3 m rail, already modeled.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52500" y="5469731"/>
            <a:ext cx="16383000" cy="1057275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28725" y="5850731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T/W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43425" y="5688806"/>
            <a:ext cx="1289132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4.31 vs. T/W≥5 rule of thumb — a handling-margin guideline, not a stability requirement; structure SF &gt;300× has no issue with the load.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52500" y="6698456"/>
            <a:ext cx="16383000" cy="7477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28725" y="6924675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WEATHERCOCK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3425" y="6917531"/>
            <a:ext cx="137674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56° vs. 30° at 10 m/s worst-case crosswind — a launch-day wind hold, not a design fix; scrub above ~6 m/s.</a:t>
            </a:r>
            <a:endParaRPr lang="en-US" sz="18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§47 · XII. Ground Test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Test Stands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3687142"/>
            <a:ext cx="16383000" cy="210309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47775" y="3925267"/>
            <a:ext cx="173716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3-AXIS TVC LOAD BALANCE (RQ1)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4315792"/>
            <a:ext cx="16266224" cy="1274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bolts to a thrust block on 3 strain-gauge load cells (1 axial + 2 lateral) through flexures. T = √(F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²+F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²+F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²), θ=atan(√(F 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²+F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²)/F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φ=atan2(F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,F</a:t>
            </a:r>
            <a:pPr algn="l" indent="0" marL="0">
              <a:lnSpc>
                <a:spcPct val="130645"/>
              </a:lnSpc>
              <a:buNone/>
            </a:pPr>
            <a:r>
              <a:rPr lang="en-US" sz="1688" baseline="-400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resolve the full thrust vector. Sized for F15-0 peak 25.3 N axial, ~3.5 N side force at ±8°: a 5 kg axial cell + two 1 kg lateral cells at 80 samples/s. Rig is actuator-agnostic — the servo-vs-solenoid A/B runs entirely on this one fixture.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5961683"/>
            <a:ext cx="16383000" cy="1981200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47775" y="6199808"/>
            <a:ext cx="173716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THRUST + JETVANE STAND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7775" y="6590333"/>
            <a:ext cx="1626622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Axial-only, steel blast deflector. Validates the F15-0 thrust curve and holds jetvane material coupons in the plume for flame-resistance ranking. Both stands are fully PC-FR, instrumented with strain-gauge cells + HX711 24-bit bridge amps, logged by a dedicated Pico DAQ independent of the flight avionics.</a:t>
            </a:r>
            <a:endParaRPr lang="en-US" sz="1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§48 · XII. Ground Test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Comparison Protocol (RQ1)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4121944"/>
            <a:ext cx="168744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magnetic-solenoid and servo-driven gimbal actuators are commanded through identical step and ramp inputs on the same load balance, under nominally identical F15-0 thrust. Commanded-vs-measured deflection is logged to extract, per actuator class: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5103019"/>
            <a:ext cx="8115300" cy="6715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90625" y="5303044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&amp; SLEW RATE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220200" y="5103019"/>
            <a:ext cx="8115300" cy="6715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458325" y="5303044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STEP-RESPONSE OVERSHOOT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" y="5926931"/>
            <a:ext cx="8115300" cy="6715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90625" y="6126956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STEADY-STATE DEFLECTION ERROR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20200" y="5926931"/>
            <a:ext cx="8115300" cy="671513"/>
          </a:xfrm>
          <a:prstGeom prst="rect">
            <a:avLst/>
          </a:prstGeom>
          <a:solidFill>
            <a:srgbClr val="FAF6EA"/>
          </a:solidFill>
          <a:ln w="9525">
            <a:solidFill>
              <a:srgbClr val="C7BBA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458325" y="6126956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ACHIEVABLE GIMBAL ANGLE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2500" y="6827044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cells are dead-weight calibrated first, then commissioned with ≥2 low-cost E16-4 firings before any F15-0 data-collection firing — 6 F15-0 firings on the TVC balance (3 per actuator).</a:t>
            </a:r>
            <a:endParaRPr lang="en-US" sz="1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§49 · XII. Ground Test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Plan &amp; Counts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352675"/>
            <a:ext cx="16383000" cy="561975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2486025"/>
            <a:ext cx="52437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03950" y="2486025"/>
            <a:ext cx="76544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311755" y="2486025"/>
            <a:ext cx="2833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EEE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500438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43000" y="3048000"/>
            <a:ext cx="52437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F15-4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603950" y="3048000"/>
            <a:ext cx="76544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only — ejection charge = recovery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311755" y="3048000"/>
            <a:ext cx="28331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3509963"/>
            <a:ext cx="16383000" cy="595313"/>
          </a:xfrm>
          <a:prstGeom prst="rect">
            <a:avLst/>
          </a:prstGeom>
          <a:solidFill>
            <a:srgbClr val="FAF6E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52500" y="4095750"/>
            <a:ext cx="16383000" cy="9525"/>
          </a:xfrm>
          <a:prstGeom prst="rect">
            <a:avLst/>
          </a:prstGeom>
          <a:solidFill>
            <a:srgbClr val="C7BBA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3643313"/>
            <a:ext cx="52437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F15-0 (plugged)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03950" y="3643313"/>
            <a:ext cx="76544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Ground: 6 TVC-stand + 5 static/jetvane + 2 spare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311755" y="3643313"/>
            <a:ext cx="28331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3000" y="4238625"/>
            <a:ext cx="52437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E16-4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603950" y="4238625"/>
            <a:ext cx="76544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commissioning / load-cell calibration checks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311755" y="4238625"/>
            <a:ext cx="28331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E6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A84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§50 · XII. Ground Test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3906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Path to Flight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2505075"/>
            <a:ext cx="5671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971800"/>
            <a:ext cx="531083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Simulation-complete: 679 g, +1.04 cal stable, re-tuned PID clears classical flight-control margins.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6565850" y="2505075"/>
            <a:ext cx="56718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TEST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65850" y="2971800"/>
            <a:ext cx="531091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actuator comparison on the TVC balance, static ejection fire, and bench PID validation (RQ4) on the Pico. RQ3 is closed post-flight by reconstructing static margin and coast-phase drag from the onboard log.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179275" y="2505075"/>
            <a:ext cx="56718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&amp; RELEASE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79275" y="2971800"/>
            <a:ext cx="531091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3C3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Servo-TVC vehicle flies on F15‑4 under multiple gain sets (RQ4); all CAD, firmware, sim code, and datasets released publicly on completion.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2026-07-12T02:39:45Z</dcterms:created>
  <dcterms:modified xsi:type="dcterms:W3CDTF">2026-07-12T02:39:45Z</dcterms:modified>
</cp:coreProperties>
</file>